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9"/>
  </p:notesMasterIdLst>
  <p:sldIdLst>
    <p:sldId id="257" r:id="rId2"/>
    <p:sldId id="436" r:id="rId3"/>
    <p:sldId id="437" r:id="rId4"/>
    <p:sldId id="435" r:id="rId5"/>
    <p:sldId id="438" r:id="rId6"/>
    <p:sldId id="439" r:id="rId7"/>
    <p:sldId id="434" r:id="rId8"/>
    <p:sldId id="442" r:id="rId9"/>
    <p:sldId id="443" r:id="rId10"/>
    <p:sldId id="441" r:id="rId11"/>
    <p:sldId id="444" r:id="rId12"/>
    <p:sldId id="446" r:id="rId13"/>
    <p:sldId id="447" r:id="rId14"/>
    <p:sldId id="448" r:id="rId15"/>
    <p:sldId id="449" r:id="rId16"/>
    <p:sldId id="450" r:id="rId17"/>
    <p:sldId id="440" r:id="rId18"/>
    <p:sldId id="360" r:id="rId19"/>
    <p:sldId id="451" r:id="rId20"/>
    <p:sldId id="452" r:id="rId21"/>
    <p:sldId id="453" r:id="rId22"/>
    <p:sldId id="454" r:id="rId23"/>
    <p:sldId id="456" r:id="rId24"/>
    <p:sldId id="457" r:id="rId25"/>
    <p:sldId id="458" r:id="rId26"/>
    <p:sldId id="455" r:id="rId27"/>
    <p:sldId id="459" r:id="rId28"/>
    <p:sldId id="460" r:id="rId29"/>
    <p:sldId id="461" r:id="rId30"/>
    <p:sldId id="462" r:id="rId31"/>
    <p:sldId id="463" r:id="rId32"/>
    <p:sldId id="465" r:id="rId33"/>
    <p:sldId id="467" r:id="rId34"/>
    <p:sldId id="469" r:id="rId35"/>
    <p:sldId id="470" r:id="rId36"/>
    <p:sldId id="471" r:id="rId37"/>
    <p:sldId id="432" r:id="rId38"/>
  </p:sldIdLst>
  <p:sldSz cx="12192000" cy="6858000"/>
  <p:notesSz cx="9144000" cy="6858000"/>
  <p:embeddedFontLst>
    <p:embeddedFont>
      <p:font typeface="等线" panose="02010600030101010101" pitchFamily="2" charset="-122"/>
      <p:regular r:id="rId40"/>
      <p:bold r:id="rId41"/>
    </p:embeddedFont>
    <p:embeddedFont>
      <p:font typeface="等线 Light" panose="02010600030101010101" pitchFamily="2" charset="-122"/>
      <p:regular r:id="rId42"/>
    </p:embeddedFont>
    <p:embeddedFont>
      <p:font typeface="Calibri" panose="020F0502020204030204" pitchFamily="34" charset="0"/>
      <p:regular r:id="rId43"/>
      <p:bold r:id="rId44"/>
      <p:italic r:id="rId45"/>
      <p:boldItalic r:id="rId46"/>
    </p:embeddedFont>
  </p:embeddedFontLst>
  <p:custDataLst>
    <p:tags r:id="rId4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  <a:srgbClr val="A32A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3" autoAdjust="0"/>
    <p:restoredTop sz="91677" autoAdjust="0"/>
  </p:normalViewPr>
  <p:slideViewPr>
    <p:cSldViewPr snapToGrid="0">
      <p:cViewPr>
        <p:scale>
          <a:sx n="100" d="100"/>
          <a:sy n="100" d="100"/>
        </p:scale>
        <p:origin x="26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tags" Target="tags/tag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429945-54B5-447E-A813-F6D1B92E56E7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F3B159-619E-4D40-9C11-807D33DE46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267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C8C38-9D66-4895-8699-33AF8F25C01F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35391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3B159-619E-4D40-9C11-807D33DE46C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8053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3B159-619E-4D40-9C11-807D33DE46C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33302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3B159-619E-4D40-9C11-807D33DE46C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391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3B159-619E-4D40-9C11-807D33DE46C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00486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3B159-619E-4D40-9C11-807D33DE46C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06266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3B159-619E-4D40-9C11-807D33DE46C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2794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3B159-619E-4D40-9C11-807D33DE46C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1407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3B159-619E-4D40-9C11-807D33DE46C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2344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3B159-619E-4D40-9C11-807D33DE46C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6848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3B159-619E-4D40-9C11-807D33DE46C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73500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3B159-619E-4D40-9C11-807D33DE46C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47160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3B159-619E-4D40-9C11-807D33DE46C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86114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3B159-619E-4D40-9C11-807D33DE46C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9909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3B159-619E-4D40-9C11-807D33DE46C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3303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3B159-619E-4D40-9C11-807D33DE46C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36220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3B159-619E-4D40-9C11-807D33DE46C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343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3B159-619E-4D40-9C11-807D33DE46C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3300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3B159-619E-4D40-9C11-807D33DE46C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9039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3B159-619E-4D40-9C11-807D33DE46C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6473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3B159-619E-4D40-9C11-807D33DE46C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16217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3B159-619E-4D40-9C11-807D33DE46C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4478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3B159-619E-4D40-9C11-807D33DE46C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1718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3B159-619E-4D40-9C11-807D33DE46C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6117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3B159-619E-4D40-9C11-807D33DE46C5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2949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3B159-619E-4D40-9C11-807D33DE46C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5908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3B159-619E-4D40-9C11-807D33DE46C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2886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3B159-619E-4D40-9C11-807D33DE46C5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8514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3B159-619E-4D40-9C11-807D33DE46C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033418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3B159-619E-4D40-9C11-807D33DE46C5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2585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3B159-619E-4D40-9C11-807D33DE46C5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1450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3B159-619E-4D40-9C11-807D33DE46C5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6492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3B159-619E-4D40-9C11-807D33DE46C5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106100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3B159-619E-4D40-9C11-807D33DE46C5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10018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3B159-619E-4D40-9C11-807D33DE46C5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17289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3B159-619E-4D40-9C11-807D33DE46C5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22841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FC8C38-9D66-4895-8699-33AF8F25C01F}" type="slidenum">
              <a:rPr lang="LID4096" smtClean="0"/>
              <a:t>37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03563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075A80-E664-E5E7-E4AA-BF011414C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2771D9C-0AE2-A446-13CA-FF663DA33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FD0C19-DAF4-B217-A34C-A93C974B1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DDD2-0A93-49C5-8AA6-E3BB1846B4AD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C86B5E-21F2-363C-B948-2F6B05A8B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D6E098-53C6-A7D9-FFFD-324E13D09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B4C7F-3788-437E-974F-FE81D7456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486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DE6FA7-0535-9A67-B9E5-76E7696D8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A87B39-754D-0C81-4B94-2F214C776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6FEB0E-1290-ED67-2B82-BD60BB93D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DDD2-0A93-49C5-8AA6-E3BB1846B4AD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295DF1-511E-E1E2-F5CD-47FA45966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BD67D4-637A-9108-A717-44E7ADF24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B4C7F-3788-437E-974F-FE81D7456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1353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5E4187-87E6-E14D-2DBC-255C314D6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7729EB-7859-03DC-759D-9C38800C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BE8AF8-7B77-B0F9-B97E-95153922E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DDD2-0A93-49C5-8AA6-E3BB1846B4AD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7B9DC5-0F55-0220-0421-3262486C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35EA2B-23A8-4859-25A0-620353E84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B4C7F-3788-437E-974F-FE81D7456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8331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FB48FE-C6F6-1181-684D-A0BD954E0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7C33D9-36A8-82F9-373F-CC6687C296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E2BA68-442A-5408-53D3-88BF6EE5D6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725BF1-CF4D-F01D-ED4A-0F5A80D25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DDD2-0A93-49C5-8AA6-E3BB1846B4AD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1144AA2-76A3-1277-44B3-EAAD69736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4EBE77-08E9-59BE-A285-1A275B7E2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B4C7F-3788-437E-974F-FE81D7456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2271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D44E89-16CC-8BE0-C708-4E8697A51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6AAB29-37FC-9C0B-20F6-177E8DDBF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6536B1-213C-19A9-4B9A-83715750B6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CF86A5A-53B7-47FD-58F8-2AF96B238D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4ABB210-665C-2CD9-9E63-511D05B6F6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6FCB6D6-C9C7-8142-E3DC-AB184F93E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DDD2-0A93-49C5-8AA6-E3BB1846B4AD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5582B4F-9C7E-4F38-4775-801984BE8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F802C54-F4C6-5DA7-1A8D-F01BEF1AD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B4C7F-3788-437E-974F-FE81D7456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6890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57FA8E-FA5A-60F0-72F0-6BCF44545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B8FB1F8-F75C-2489-9076-98F5E2A6E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DDD2-0A93-49C5-8AA6-E3BB1846B4AD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63A4B93-CA27-6C74-138E-6829AAAC5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E3565A-C058-7DD8-AC52-3BF525707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B4C7F-3788-437E-974F-FE81D7456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601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BD13CEA-3EED-9CB8-303F-395BB6B26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DDD2-0A93-49C5-8AA6-E3BB1846B4AD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BA331CC-375B-0AF6-DBEB-6EBDCDF13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BE1F83-3B97-FEC9-3059-AD382DDD8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B4C7F-3788-437E-974F-FE81D7456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58557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525A15-934A-5AAC-DA53-94E2137F7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EB58C0-276F-B3C9-3660-72E60B644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DBAFDC2-F334-A5F3-2F30-83FC6F6B4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60C4AE-F5E1-5044-A16E-CA3A9D95E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DDD2-0A93-49C5-8AA6-E3BB1846B4AD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4A3C64-29BC-5243-5C81-BCC1C4CDE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E9C277-D4CD-A68C-2BE8-61B4981C0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B4C7F-3788-437E-974F-FE81D7456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105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D82E24-5A85-0521-DD6D-B55BFB353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665E5C5-2F09-6FE2-34CA-ED528A4AB7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10106E-1CA8-B6BD-DF39-865ADBD44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20D14D-B95C-F765-0775-9B4691F53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DDD2-0A93-49C5-8AA6-E3BB1846B4AD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A7191C-28BA-3895-495C-5F4499122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027092-DC29-9748-94B1-6532EB6D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B4C7F-3788-437E-974F-FE81D7456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279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95A9B2-7EE5-B159-4782-2029F7C3B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B9AD10A-9F09-8325-234B-AFD87C9E3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F567A5-60CC-F8DD-0D9D-A1B29E37E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DDD2-0A93-49C5-8AA6-E3BB1846B4AD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AD5F1D-8BC3-267C-4C49-8E0220C98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BD5108-1C41-1D69-E0B4-5C50CF377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B4C7F-3788-437E-974F-FE81D7456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6941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CA8D039-2299-40B2-B8D5-1C703E35C6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5EF9045-DDDF-EF49-C2A0-B45D680DF0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610779-D24B-F5FC-DF98-C0C42316B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DDD2-0A93-49C5-8AA6-E3BB1846B4AD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9E59FB-8731-4A47-27A8-7E914AF4D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E28B8B-1FD6-8B74-A128-F3E523299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B4C7F-3788-437E-974F-FE81D7456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8618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21035F2-A3C0-239B-5045-50F62BBF8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ED712E-8468-68C5-D1DA-9DEF737D0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E36A5E-8227-E853-322E-39EF6686C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9DDD2-0A93-49C5-8AA6-E3BB1846B4AD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2896E3-D678-80BA-F02E-E2A17EFAB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726A79-5141-35ED-02C2-923258BDB2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AB4C7F-3788-437E-974F-FE81D7456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637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cipy.github.io/old-wiki/pages/PerformancePython.html#An_implementation_in_C.2B-.2B-" TargetMode="External"/><Relationship Id="rId5" Type="http://schemas.openxmlformats.org/officeDocument/2006/relationships/hyperlink" Target="http://technicaldiscovery.blogspot.com/2011/06/speeding-up-python-numpy-cython-and.html" TargetMode="External"/><Relationship Id="rId4" Type="http://schemas.openxmlformats.org/officeDocument/2006/relationships/hyperlink" Target="https://github.com/flame/how-to-optimize-gemm/wiki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YuxueYang1204/CudaDemo/tree/main" TargetMode="External"/><Relationship Id="rId4" Type="http://schemas.openxmlformats.org/officeDocument/2006/relationships/hyperlink" Target="https://zhuanlan.zhihu.com/p/595851188?utm_campaign=shareopn&amp;utm_content=group3_article&amp;utm_medium=social&amp;utm_psn=1779857889484021760&amp;utm_source=wechat_session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675582" y="2499256"/>
            <a:ext cx="10840837" cy="185948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8800" b="1" spc="-5" dirty="0">
                <a:gradFill flip="none" rotWithShape="1">
                  <a:gsLst>
                    <a:gs pos="7000">
                      <a:srgbClr val="FFC000"/>
                    </a:gs>
                    <a:gs pos="86000">
                      <a:srgbClr val="7030A0">
                        <a:lumMod val="82000"/>
                        <a:lumOff val="18000"/>
                      </a:srgbClr>
                    </a:gs>
                    <a:gs pos="41000">
                      <a:srgbClr val="FF3399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Accelerate Python</a:t>
            </a:r>
            <a:br>
              <a:rPr lang="en-US" sz="11500" b="1" spc="-5" dirty="0">
                <a:gradFill flip="none" rotWithShape="1">
                  <a:gsLst>
                    <a:gs pos="7000">
                      <a:srgbClr val="FFC000"/>
                    </a:gs>
                    <a:gs pos="86000">
                      <a:srgbClr val="7030A0">
                        <a:lumMod val="82000"/>
                        <a:lumOff val="18000"/>
                      </a:srgbClr>
                    </a:gs>
                    <a:gs pos="41000">
                      <a:srgbClr val="FF3399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gradFill flip="none" rotWithShape="1">
                  <a:gsLst>
                    <a:gs pos="7000">
                      <a:srgbClr val="FFC000"/>
                    </a:gs>
                    <a:gs pos="86000">
                      <a:srgbClr val="7030A0">
                        <a:lumMod val="82000"/>
                        <a:lumOff val="18000"/>
                      </a:srgbClr>
                    </a:gs>
                    <a:gs pos="41000">
                      <a:srgbClr val="FF3399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for a </a:t>
            </a:r>
            <a:r>
              <a:rPr lang="en-US" altLang="zh-CN" sz="3200" b="1" spc="-5" dirty="0">
                <a:gradFill flip="none" rotWithShape="1">
                  <a:gsLst>
                    <a:gs pos="7000">
                      <a:srgbClr val="FFC000"/>
                    </a:gs>
                    <a:gs pos="86000">
                      <a:srgbClr val="7030A0">
                        <a:lumMod val="82000"/>
                        <a:lumOff val="18000"/>
                      </a:srgbClr>
                    </a:gs>
                    <a:gs pos="41000">
                      <a:srgbClr val="FF3399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Genetic Programming Project</a:t>
            </a:r>
            <a:endParaRPr sz="6000" b="1" spc="-5" dirty="0">
              <a:gradFill flip="none" rotWithShape="1">
                <a:gsLst>
                  <a:gs pos="7000">
                    <a:srgbClr val="FFC000"/>
                  </a:gs>
                  <a:gs pos="86000">
                    <a:srgbClr val="7030A0">
                      <a:lumMod val="82000"/>
                      <a:lumOff val="18000"/>
                    </a:srgbClr>
                  </a:gs>
                  <a:gs pos="41000">
                    <a:srgbClr val="FF3399"/>
                  </a:gs>
                </a:gsLst>
                <a:path path="circle">
                  <a:fillToRect r="100000" b="100000"/>
                </a:path>
                <a:tileRect l="-100000" t="-100000"/>
              </a:gra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66360" y="6460294"/>
            <a:ext cx="1859280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cs typeface="+mn-ea"/>
                <a:sym typeface="+mn-lt"/>
              </a:rPr>
              <a:t>2024.6.5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2E4CC84-AA15-DD10-C983-F574171E7DF1}"/>
              </a:ext>
            </a:extLst>
          </p:cNvPr>
          <p:cNvSpPr txBox="1"/>
          <p:nvPr/>
        </p:nvSpPr>
        <p:spPr>
          <a:xfrm>
            <a:off x="4983017" y="6090962"/>
            <a:ext cx="2225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Bocheng Lin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9B882B7-8C3B-4F22-A224-6ECF8E442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49309" cy="600075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E07CAB2E-BBCA-82B6-1834-C825471483EC}"/>
              </a:ext>
            </a:extLst>
          </p:cNvPr>
          <p:cNvSpPr/>
          <p:nvPr/>
        </p:nvSpPr>
        <p:spPr>
          <a:xfrm>
            <a:off x="2641530" y="2899880"/>
            <a:ext cx="6453830" cy="33074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16000">
                <a:srgbClr val="00B050"/>
              </a:gs>
              <a:gs pos="100000">
                <a:srgbClr val="0070C0"/>
              </a:gs>
              <a:gs pos="78000">
                <a:srgbClr val="00B0F0"/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EF25758-00D8-C66E-37E1-4B5CA7A2DD71}"/>
              </a:ext>
            </a:extLst>
          </p:cNvPr>
          <p:cNvSpPr/>
          <p:nvPr/>
        </p:nvSpPr>
        <p:spPr>
          <a:xfrm>
            <a:off x="9095360" y="2899879"/>
            <a:ext cx="2165347" cy="330741"/>
          </a:xfrm>
          <a:prstGeom prst="roundRect">
            <a:avLst>
              <a:gd name="adj" fmla="val 50000"/>
            </a:avLst>
          </a:prstGeom>
          <a:gradFill>
            <a:gsLst>
              <a:gs pos="72000">
                <a:srgbClr val="A32AD4"/>
              </a:gs>
              <a:gs pos="100000">
                <a:srgbClr val="7030A0"/>
              </a:gs>
              <a:gs pos="0">
                <a:srgbClr val="0070C0"/>
              </a:gs>
              <a:gs pos="32000">
                <a:srgbClr val="00B0F0"/>
              </a:gs>
            </a:gsLst>
            <a:lin ang="189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B4E3B3D-E526-8152-5E11-422AF6A168D9}"/>
              </a:ext>
            </a:extLst>
          </p:cNvPr>
          <p:cNvSpPr/>
          <p:nvPr/>
        </p:nvSpPr>
        <p:spPr>
          <a:xfrm>
            <a:off x="2641530" y="3765646"/>
            <a:ext cx="2397398" cy="33074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16000">
                <a:srgbClr val="00B050"/>
              </a:gs>
              <a:gs pos="100000">
                <a:srgbClr val="0070C0"/>
              </a:gs>
              <a:gs pos="78000">
                <a:srgbClr val="00B0F0"/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607CAE3-35E1-3D8F-FDE6-FAED70DB97E7}"/>
              </a:ext>
            </a:extLst>
          </p:cNvPr>
          <p:cNvSpPr/>
          <p:nvPr/>
        </p:nvSpPr>
        <p:spPr>
          <a:xfrm>
            <a:off x="5038928" y="3765645"/>
            <a:ext cx="6221779" cy="330741"/>
          </a:xfrm>
          <a:prstGeom prst="roundRect">
            <a:avLst>
              <a:gd name="adj" fmla="val 50000"/>
            </a:avLst>
          </a:prstGeom>
          <a:gradFill>
            <a:gsLst>
              <a:gs pos="72000">
                <a:srgbClr val="A32AD4"/>
              </a:gs>
              <a:gs pos="100000">
                <a:srgbClr val="7030A0"/>
              </a:gs>
              <a:gs pos="0">
                <a:srgbClr val="0070C0"/>
              </a:gs>
              <a:gs pos="32000">
                <a:srgbClr val="00B0F0"/>
              </a:gs>
            </a:gsLst>
            <a:lin ang="189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48F7983-52B1-8F57-410C-69A4F5EC143C}"/>
              </a:ext>
            </a:extLst>
          </p:cNvPr>
          <p:cNvSpPr txBox="1"/>
          <p:nvPr/>
        </p:nvSpPr>
        <p:spPr>
          <a:xfrm>
            <a:off x="476183" y="2803639"/>
            <a:ext cx="17207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C++</a:t>
            </a:r>
            <a:endParaRPr lang="zh-CN" altLang="en-US" sz="28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0BC975B-10D8-EF13-3DF6-79BDF24825E0}"/>
              </a:ext>
            </a:extLst>
          </p:cNvPr>
          <p:cNvSpPr txBox="1"/>
          <p:nvPr/>
        </p:nvSpPr>
        <p:spPr>
          <a:xfrm>
            <a:off x="476183" y="3669405"/>
            <a:ext cx="17207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Python</a:t>
            </a:r>
            <a:endParaRPr lang="zh-CN" altLang="en-US" sz="28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5C0858D-C24F-B522-6363-3D0CE011C446}"/>
              </a:ext>
            </a:extLst>
          </p:cNvPr>
          <p:cNvSpPr txBox="1"/>
          <p:nvPr/>
        </p:nvSpPr>
        <p:spPr>
          <a:xfrm>
            <a:off x="2267622" y="600075"/>
            <a:ext cx="76567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Time Comparison for Developing a Project: </a:t>
            </a:r>
          </a:p>
          <a:p>
            <a:pPr algn="ctr"/>
            <a:r>
              <a:rPr lang="en-US" altLang="zh-CN" sz="2800" b="1" spc="-5" dirty="0">
                <a:gradFill>
                  <a:gsLst>
                    <a:gs pos="23000">
                      <a:srgbClr val="00B050"/>
                    </a:gs>
                    <a:gs pos="0">
                      <a:schemeClr val="accent6">
                        <a:lumMod val="75000"/>
                      </a:schemeClr>
                    </a:gs>
                    <a:gs pos="98000">
                      <a:srgbClr val="0070C0"/>
                    </a:gs>
                    <a:gs pos="65000">
                      <a:srgbClr val="0078C6"/>
                    </a:gs>
                    <a:gs pos="45000">
                      <a:srgbClr val="00B0F0"/>
                    </a:gs>
                  </a:gsLst>
                  <a:lin ang="18900000" scaled="1"/>
                </a:gra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Coding Time </a:t>
            </a:r>
            <a:r>
              <a:rPr lang="en-US" altLang="zh-CN" sz="28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and </a:t>
            </a:r>
            <a:r>
              <a:rPr lang="en-US" altLang="zh-CN" sz="2800" b="1" spc="-5" dirty="0">
                <a:gradFill>
                  <a:gsLst>
                    <a:gs pos="69000">
                      <a:srgbClr val="A32AD4"/>
                    </a:gs>
                    <a:gs pos="95000">
                      <a:srgbClr val="7030A0"/>
                    </a:gs>
                    <a:gs pos="22000">
                      <a:srgbClr val="0070C0"/>
                    </a:gs>
                    <a:gs pos="45000">
                      <a:srgbClr val="00B0F0"/>
                    </a:gs>
                  </a:gsLst>
                  <a:lin ang="18900000" scaled="1"/>
                </a:gra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Execution Time</a:t>
            </a:r>
            <a:endParaRPr lang="zh-CN" altLang="en-US" sz="2800" dirty="0">
              <a:gradFill>
                <a:gsLst>
                  <a:gs pos="69000">
                    <a:srgbClr val="A32AD4"/>
                  </a:gs>
                  <a:gs pos="95000">
                    <a:srgbClr val="7030A0"/>
                  </a:gs>
                  <a:gs pos="22000">
                    <a:srgbClr val="0070C0"/>
                  </a:gs>
                  <a:gs pos="45000">
                    <a:srgbClr val="00B0F0"/>
                  </a:gs>
                </a:gsLst>
                <a:lin ang="189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533933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83DE963-5354-B0FE-739C-36E41A9338C6}"/>
              </a:ext>
            </a:extLst>
          </p:cNvPr>
          <p:cNvSpPr txBox="1"/>
          <p:nvPr/>
        </p:nvSpPr>
        <p:spPr>
          <a:xfrm>
            <a:off x="2267622" y="600075"/>
            <a:ext cx="76567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Time Comparison for Developing a Project: </a:t>
            </a:r>
          </a:p>
          <a:p>
            <a:pPr algn="ctr"/>
            <a:r>
              <a:rPr lang="en-US" altLang="zh-CN" sz="2800" b="1" spc="-5" dirty="0">
                <a:gradFill>
                  <a:gsLst>
                    <a:gs pos="23000">
                      <a:srgbClr val="00B050"/>
                    </a:gs>
                    <a:gs pos="0">
                      <a:schemeClr val="accent6">
                        <a:lumMod val="75000"/>
                      </a:schemeClr>
                    </a:gs>
                    <a:gs pos="98000">
                      <a:srgbClr val="0070C0"/>
                    </a:gs>
                    <a:gs pos="65000">
                      <a:srgbClr val="0078C6"/>
                    </a:gs>
                    <a:gs pos="45000">
                      <a:srgbClr val="00B0F0"/>
                    </a:gs>
                  </a:gsLst>
                  <a:lin ang="18900000" scaled="1"/>
                </a:gra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Coding Time </a:t>
            </a:r>
            <a:r>
              <a:rPr lang="en-US" altLang="zh-CN" sz="28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and </a:t>
            </a:r>
            <a:r>
              <a:rPr lang="en-US" altLang="zh-CN" sz="2800" b="1" spc="-5" dirty="0">
                <a:gradFill>
                  <a:gsLst>
                    <a:gs pos="69000">
                      <a:srgbClr val="A32AD4"/>
                    </a:gs>
                    <a:gs pos="95000">
                      <a:srgbClr val="7030A0"/>
                    </a:gs>
                    <a:gs pos="22000">
                      <a:srgbClr val="0070C0"/>
                    </a:gs>
                    <a:gs pos="45000">
                      <a:srgbClr val="00B0F0"/>
                    </a:gs>
                  </a:gsLst>
                  <a:lin ang="18900000" scaled="1"/>
                </a:gra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Execution Time</a:t>
            </a:r>
            <a:endParaRPr lang="zh-CN" altLang="en-US" sz="2800" dirty="0">
              <a:gradFill>
                <a:gsLst>
                  <a:gs pos="69000">
                    <a:srgbClr val="A32AD4"/>
                  </a:gs>
                  <a:gs pos="95000">
                    <a:srgbClr val="7030A0"/>
                  </a:gs>
                  <a:gs pos="22000">
                    <a:srgbClr val="0070C0"/>
                  </a:gs>
                  <a:gs pos="45000">
                    <a:srgbClr val="00B0F0"/>
                  </a:gs>
                </a:gsLst>
                <a:lin ang="18900000" scaled="1"/>
              </a:gra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9B882B7-8C3B-4F22-A224-6ECF8E442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49309" cy="600075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E07CAB2E-BBCA-82B6-1834-C825471483EC}"/>
              </a:ext>
            </a:extLst>
          </p:cNvPr>
          <p:cNvSpPr/>
          <p:nvPr/>
        </p:nvSpPr>
        <p:spPr>
          <a:xfrm>
            <a:off x="2641530" y="2899880"/>
            <a:ext cx="6453830" cy="33074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16000">
                <a:srgbClr val="00B050"/>
              </a:gs>
              <a:gs pos="100000">
                <a:srgbClr val="0070C0"/>
              </a:gs>
              <a:gs pos="78000">
                <a:srgbClr val="00B0F0"/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EF25758-00D8-C66E-37E1-4B5CA7A2DD71}"/>
              </a:ext>
            </a:extLst>
          </p:cNvPr>
          <p:cNvSpPr/>
          <p:nvPr/>
        </p:nvSpPr>
        <p:spPr>
          <a:xfrm>
            <a:off x="9095360" y="2899879"/>
            <a:ext cx="2165347" cy="330741"/>
          </a:xfrm>
          <a:prstGeom prst="roundRect">
            <a:avLst>
              <a:gd name="adj" fmla="val 50000"/>
            </a:avLst>
          </a:prstGeom>
          <a:gradFill>
            <a:gsLst>
              <a:gs pos="72000">
                <a:srgbClr val="A32AD4"/>
              </a:gs>
              <a:gs pos="100000">
                <a:srgbClr val="7030A0"/>
              </a:gs>
              <a:gs pos="0">
                <a:srgbClr val="0070C0"/>
              </a:gs>
              <a:gs pos="32000">
                <a:srgbClr val="00B0F0"/>
              </a:gs>
            </a:gsLst>
            <a:lin ang="189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B4E3B3D-E526-8152-5E11-422AF6A168D9}"/>
              </a:ext>
            </a:extLst>
          </p:cNvPr>
          <p:cNvSpPr/>
          <p:nvPr/>
        </p:nvSpPr>
        <p:spPr>
          <a:xfrm>
            <a:off x="2641530" y="3765646"/>
            <a:ext cx="2397398" cy="33074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16000">
                <a:srgbClr val="00B050"/>
              </a:gs>
              <a:gs pos="100000">
                <a:srgbClr val="0070C0"/>
              </a:gs>
              <a:gs pos="78000">
                <a:srgbClr val="00B0F0"/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607CAE3-35E1-3D8F-FDE6-FAED70DB97E7}"/>
              </a:ext>
            </a:extLst>
          </p:cNvPr>
          <p:cNvSpPr/>
          <p:nvPr/>
        </p:nvSpPr>
        <p:spPr>
          <a:xfrm>
            <a:off x="5038928" y="3765645"/>
            <a:ext cx="6221779" cy="330741"/>
          </a:xfrm>
          <a:prstGeom prst="roundRect">
            <a:avLst>
              <a:gd name="adj" fmla="val 50000"/>
            </a:avLst>
          </a:prstGeom>
          <a:gradFill>
            <a:gsLst>
              <a:gs pos="72000">
                <a:srgbClr val="A32AD4"/>
              </a:gs>
              <a:gs pos="100000">
                <a:srgbClr val="7030A0"/>
              </a:gs>
              <a:gs pos="0">
                <a:srgbClr val="0070C0"/>
              </a:gs>
              <a:gs pos="32000">
                <a:srgbClr val="00B0F0"/>
              </a:gs>
            </a:gsLst>
            <a:lin ang="189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48F7983-52B1-8F57-410C-69A4F5EC143C}"/>
              </a:ext>
            </a:extLst>
          </p:cNvPr>
          <p:cNvSpPr txBox="1"/>
          <p:nvPr/>
        </p:nvSpPr>
        <p:spPr>
          <a:xfrm>
            <a:off x="476183" y="2803639"/>
            <a:ext cx="17207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C++</a:t>
            </a:r>
            <a:endParaRPr lang="zh-CN" altLang="en-US" sz="28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0BC975B-10D8-EF13-3DF6-79BDF24825E0}"/>
              </a:ext>
            </a:extLst>
          </p:cNvPr>
          <p:cNvSpPr txBox="1"/>
          <p:nvPr/>
        </p:nvSpPr>
        <p:spPr>
          <a:xfrm>
            <a:off x="476183" y="3669405"/>
            <a:ext cx="17207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Python</a:t>
            </a:r>
            <a:endParaRPr lang="zh-CN" altLang="en-US" sz="28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158C0C3-F096-2EF4-21C4-63A40C5EC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0315" y="149311"/>
            <a:ext cx="6221779" cy="654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058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9B882B7-8C3B-4F22-A224-6ECF8E442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49309" cy="600075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E07CAB2E-BBCA-82B6-1834-C825471483EC}"/>
              </a:ext>
            </a:extLst>
          </p:cNvPr>
          <p:cNvSpPr/>
          <p:nvPr/>
        </p:nvSpPr>
        <p:spPr>
          <a:xfrm>
            <a:off x="2641530" y="2423218"/>
            <a:ext cx="6453830" cy="33074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16000">
                <a:srgbClr val="00B050"/>
              </a:gs>
              <a:gs pos="100000">
                <a:srgbClr val="0070C0"/>
              </a:gs>
              <a:gs pos="78000">
                <a:srgbClr val="00B0F0"/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EF25758-00D8-C66E-37E1-4B5CA7A2DD71}"/>
              </a:ext>
            </a:extLst>
          </p:cNvPr>
          <p:cNvSpPr/>
          <p:nvPr/>
        </p:nvSpPr>
        <p:spPr>
          <a:xfrm>
            <a:off x="9095360" y="2423217"/>
            <a:ext cx="2165347" cy="330741"/>
          </a:xfrm>
          <a:prstGeom prst="roundRect">
            <a:avLst>
              <a:gd name="adj" fmla="val 50000"/>
            </a:avLst>
          </a:prstGeom>
          <a:gradFill>
            <a:gsLst>
              <a:gs pos="72000">
                <a:srgbClr val="A32AD4"/>
              </a:gs>
              <a:gs pos="100000">
                <a:srgbClr val="7030A0"/>
              </a:gs>
              <a:gs pos="0">
                <a:srgbClr val="0070C0"/>
              </a:gs>
              <a:gs pos="32000">
                <a:srgbClr val="00B0F0"/>
              </a:gs>
            </a:gsLst>
            <a:lin ang="189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B4E3B3D-E526-8152-5E11-422AF6A168D9}"/>
              </a:ext>
            </a:extLst>
          </p:cNvPr>
          <p:cNvSpPr/>
          <p:nvPr/>
        </p:nvSpPr>
        <p:spPr>
          <a:xfrm>
            <a:off x="2641530" y="3288984"/>
            <a:ext cx="2397398" cy="33074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16000">
                <a:srgbClr val="00B050"/>
              </a:gs>
              <a:gs pos="100000">
                <a:srgbClr val="0070C0"/>
              </a:gs>
              <a:gs pos="78000">
                <a:srgbClr val="00B0F0"/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607CAE3-35E1-3D8F-FDE6-FAED70DB97E7}"/>
              </a:ext>
            </a:extLst>
          </p:cNvPr>
          <p:cNvSpPr/>
          <p:nvPr/>
        </p:nvSpPr>
        <p:spPr>
          <a:xfrm>
            <a:off x="5038928" y="3288983"/>
            <a:ext cx="6221779" cy="330741"/>
          </a:xfrm>
          <a:prstGeom prst="roundRect">
            <a:avLst>
              <a:gd name="adj" fmla="val 50000"/>
            </a:avLst>
          </a:prstGeom>
          <a:gradFill>
            <a:gsLst>
              <a:gs pos="72000">
                <a:srgbClr val="A32AD4"/>
              </a:gs>
              <a:gs pos="100000">
                <a:srgbClr val="7030A0"/>
              </a:gs>
              <a:gs pos="0">
                <a:srgbClr val="0070C0"/>
              </a:gs>
              <a:gs pos="32000">
                <a:srgbClr val="00B0F0"/>
              </a:gs>
            </a:gsLst>
            <a:lin ang="189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48F7983-52B1-8F57-410C-69A4F5EC143C}"/>
              </a:ext>
            </a:extLst>
          </p:cNvPr>
          <p:cNvSpPr txBox="1"/>
          <p:nvPr/>
        </p:nvSpPr>
        <p:spPr>
          <a:xfrm>
            <a:off x="476183" y="2326977"/>
            <a:ext cx="17207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C++</a:t>
            </a:r>
            <a:endParaRPr lang="zh-CN" altLang="en-US" sz="28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0BC975B-10D8-EF13-3DF6-79BDF24825E0}"/>
              </a:ext>
            </a:extLst>
          </p:cNvPr>
          <p:cNvSpPr txBox="1"/>
          <p:nvPr/>
        </p:nvSpPr>
        <p:spPr>
          <a:xfrm>
            <a:off x="476183" y="3192743"/>
            <a:ext cx="17207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Python</a:t>
            </a:r>
            <a:endParaRPr lang="zh-CN" altLang="en-US" sz="28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A67E9D5-F9A9-9E16-412E-38D3DE150150}"/>
              </a:ext>
            </a:extLst>
          </p:cNvPr>
          <p:cNvSpPr txBox="1"/>
          <p:nvPr/>
        </p:nvSpPr>
        <p:spPr>
          <a:xfrm>
            <a:off x="476183" y="4058509"/>
            <a:ext cx="172071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Python+</a:t>
            </a:r>
          </a:p>
          <a:p>
            <a:pPr algn="ctr"/>
            <a:r>
              <a:rPr lang="en-US" altLang="zh-CN" sz="24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ChatGPT-4</a:t>
            </a:r>
            <a:endParaRPr lang="zh-CN" altLang="en-US" sz="2400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E091D6C-95D2-1B31-2721-44158E947286}"/>
              </a:ext>
            </a:extLst>
          </p:cNvPr>
          <p:cNvSpPr/>
          <p:nvPr/>
        </p:nvSpPr>
        <p:spPr>
          <a:xfrm>
            <a:off x="2641530" y="4339414"/>
            <a:ext cx="1720716" cy="33074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16000">
                <a:srgbClr val="00B050"/>
              </a:gs>
              <a:gs pos="100000">
                <a:srgbClr val="0070C0"/>
              </a:gs>
              <a:gs pos="78000">
                <a:srgbClr val="00B0F0"/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763BA14-7451-DAD9-713E-E879EBFA2CB2}"/>
              </a:ext>
            </a:extLst>
          </p:cNvPr>
          <p:cNvSpPr/>
          <p:nvPr/>
        </p:nvSpPr>
        <p:spPr>
          <a:xfrm>
            <a:off x="4362247" y="4339414"/>
            <a:ext cx="5188224" cy="330741"/>
          </a:xfrm>
          <a:prstGeom prst="roundRect">
            <a:avLst>
              <a:gd name="adj" fmla="val 50000"/>
            </a:avLst>
          </a:prstGeom>
          <a:gradFill>
            <a:gsLst>
              <a:gs pos="72000">
                <a:srgbClr val="A32AD4"/>
              </a:gs>
              <a:gs pos="100000">
                <a:srgbClr val="7030A0"/>
              </a:gs>
              <a:gs pos="0">
                <a:srgbClr val="0070C0"/>
              </a:gs>
              <a:gs pos="32000">
                <a:srgbClr val="00B0F0"/>
              </a:gs>
            </a:gsLst>
            <a:lin ang="189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03486F7-424E-AC5D-CFB4-E2FC4A3C84E4}"/>
              </a:ext>
            </a:extLst>
          </p:cNvPr>
          <p:cNvSpPr txBox="1"/>
          <p:nvPr/>
        </p:nvSpPr>
        <p:spPr>
          <a:xfrm>
            <a:off x="2267622" y="600075"/>
            <a:ext cx="76567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Time Comparison for Developing a Project: </a:t>
            </a:r>
          </a:p>
          <a:p>
            <a:pPr algn="ctr"/>
            <a:r>
              <a:rPr lang="en-US" altLang="zh-CN" sz="2800" b="1" spc="-5" dirty="0">
                <a:gradFill>
                  <a:gsLst>
                    <a:gs pos="23000">
                      <a:srgbClr val="00B050"/>
                    </a:gs>
                    <a:gs pos="0">
                      <a:schemeClr val="accent6">
                        <a:lumMod val="75000"/>
                      </a:schemeClr>
                    </a:gs>
                    <a:gs pos="98000">
                      <a:srgbClr val="0070C0"/>
                    </a:gs>
                    <a:gs pos="65000">
                      <a:srgbClr val="0078C6"/>
                    </a:gs>
                    <a:gs pos="45000">
                      <a:srgbClr val="00B0F0"/>
                    </a:gs>
                  </a:gsLst>
                  <a:lin ang="18900000" scaled="1"/>
                </a:gra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Coding Time </a:t>
            </a:r>
            <a:r>
              <a:rPr lang="en-US" altLang="zh-CN" sz="28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and </a:t>
            </a:r>
            <a:r>
              <a:rPr lang="en-US" altLang="zh-CN" sz="2800" b="1" spc="-5" dirty="0">
                <a:gradFill>
                  <a:gsLst>
                    <a:gs pos="69000">
                      <a:srgbClr val="A32AD4"/>
                    </a:gs>
                    <a:gs pos="95000">
                      <a:srgbClr val="7030A0"/>
                    </a:gs>
                    <a:gs pos="22000">
                      <a:srgbClr val="0070C0"/>
                    </a:gs>
                    <a:gs pos="45000">
                      <a:srgbClr val="00B0F0"/>
                    </a:gs>
                  </a:gsLst>
                  <a:lin ang="18900000" scaled="1"/>
                </a:gra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Execution Time</a:t>
            </a:r>
            <a:endParaRPr lang="zh-CN" altLang="en-US" sz="2800" dirty="0">
              <a:gradFill>
                <a:gsLst>
                  <a:gs pos="69000">
                    <a:srgbClr val="A32AD4"/>
                  </a:gs>
                  <a:gs pos="95000">
                    <a:srgbClr val="7030A0"/>
                  </a:gs>
                  <a:gs pos="22000">
                    <a:srgbClr val="0070C0"/>
                  </a:gs>
                  <a:gs pos="45000">
                    <a:srgbClr val="00B0F0"/>
                  </a:gs>
                </a:gsLst>
                <a:lin ang="189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95515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0C91E2E-F203-5146-4784-7EC99C33B993}"/>
              </a:ext>
            </a:extLst>
          </p:cNvPr>
          <p:cNvSpPr txBox="1"/>
          <p:nvPr/>
        </p:nvSpPr>
        <p:spPr>
          <a:xfrm>
            <a:off x="2267622" y="600075"/>
            <a:ext cx="76567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Time Comparison for Developing a Project: </a:t>
            </a:r>
          </a:p>
          <a:p>
            <a:pPr algn="ctr"/>
            <a:r>
              <a:rPr lang="en-US" altLang="zh-CN" sz="2800" b="1" spc="-5" dirty="0">
                <a:gradFill>
                  <a:gsLst>
                    <a:gs pos="23000">
                      <a:srgbClr val="00B050"/>
                    </a:gs>
                    <a:gs pos="0">
                      <a:schemeClr val="accent6">
                        <a:lumMod val="75000"/>
                      </a:schemeClr>
                    </a:gs>
                    <a:gs pos="98000">
                      <a:srgbClr val="0070C0"/>
                    </a:gs>
                    <a:gs pos="65000">
                      <a:srgbClr val="0078C6"/>
                    </a:gs>
                    <a:gs pos="45000">
                      <a:srgbClr val="00B0F0"/>
                    </a:gs>
                  </a:gsLst>
                  <a:lin ang="18900000" scaled="1"/>
                </a:gra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Coding Time </a:t>
            </a:r>
            <a:r>
              <a:rPr lang="en-US" altLang="zh-CN" sz="28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and </a:t>
            </a:r>
            <a:r>
              <a:rPr lang="en-US" altLang="zh-CN" sz="2800" b="1" spc="-5" dirty="0">
                <a:gradFill>
                  <a:gsLst>
                    <a:gs pos="69000">
                      <a:srgbClr val="A32AD4"/>
                    </a:gs>
                    <a:gs pos="95000">
                      <a:srgbClr val="7030A0"/>
                    </a:gs>
                    <a:gs pos="22000">
                      <a:srgbClr val="0070C0"/>
                    </a:gs>
                    <a:gs pos="45000">
                      <a:srgbClr val="00B0F0"/>
                    </a:gs>
                  </a:gsLst>
                  <a:lin ang="18900000" scaled="1"/>
                </a:gra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Execution Time</a:t>
            </a:r>
            <a:endParaRPr lang="zh-CN" altLang="en-US" sz="2800" dirty="0">
              <a:gradFill>
                <a:gsLst>
                  <a:gs pos="69000">
                    <a:srgbClr val="A32AD4"/>
                  </a:gs>
                  <a:gs pos="95000">
                    <a:srgbClr val="7030A0"/>
                  </a:gs>
                  <a:gs pos="22000">
                    <a:srgbClr val="0070C0"/>
                  </a:gs>
                  <a:gs pos="45000">
                    <a:srgbClr val="00B0F0"/>
                  </a:gs>
                </a:gsLst>
                <a:lin ang="18900000" scaled="1"/>
              </a:gra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9B882B7-8C3B-4F22-A224-6ECF8E442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49309" cy="600075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E07CAB2E-BBCA-82B6-1834-C825471483EC}"/>
              </a:ext>
            </a:extLst>
          </p:cNvPr>
          <p:cNvSpPr/>
          <p:nvPr/>
        </p:nvSpPr>
        <p:spPr>
          <a:xfrm>
            <a:off x="2641530" y="2423218"/>
            <a:ext cx="6453830" cy="33074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16000">
                <a:srgbClr val="00B050"/>
              </a:gs>
              <a:gs pos="100000">
                <a:srgbClr val="0070C0"/>
              </a:gs>
              <a:gs pos="78000">
                <a:srgbClr val="00B0F0"/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EF25758-00D8-C66E-37E1-4B5CA7A2DD71}"/>
              </a:ext>
            </a:extLst>
          </p:cNvPr>
          <p:cNvSpPr/>
          <p:nvPr/>
        </p:nvSpPr>
        <p:spPr>
          <a:xfrm>
            <a:off x="9095360" y="2423217"/>
            <a:ext cx="2165347" cy="330741"/>
          </a:xfrm>
          <a:prstGeom prst="roundRect">
            <a:avLst>
              <a:gd name="adj" fmla="val 50000"/>
            </a:avLst>
          </a:prstGeom>
          <a:gradFill>
            <a:gsLst>
              <a:gs pos="72000">
                <a:srgbClr val="A32AD4"/>
              </a:gs>
              <a:gs pos="100000">
                <a:srgbClr val="7030A0"/>
              </a:gs>
              <a:gs pos="0">
                <a:srgbClr val="0070C0"/>
              </a:gs>
              <a:gs pos="32000">
                <a:srgbClr val="00B0F0"/>
              </a:gs>
            </a:gsLst>
            <a:lin ang="189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B4E3B3D-E526-8152-5E11-422AF6A168D9}"/>
              </a:ext>
            </a:extLst>
          </p:cNvPr>
          <p:cNvSpPr/>
          <p:nvPr/>
        </p:nvSpPr>
        <p:spPr>
          <a:xfrm>
            <a:off x="2641530" y="3288984"/>
            <a:ext cx="2397398" cy="33074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16000">
                <a:srgbClr val="00B050"/>
              </a:gs>
              <a:gs pos="100000">
                <a:srgbClr val="0070C0"/>
              </a:gs>
              <a:gs pos="78000">
                <a:srgbClr val="00B0F0"/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607CAE3-35E1-3D8F-FDE6-FAED70DB97E7}"/>
              </a:ext>
            </a:extLst>
          </p:cNvPr>
          <p:cNvSpPr/>
          <p:nvPr/>
        </p:nvSpPr>
        <p:spPr>
          <a:xfrm>
            <a:off x="5038928" y="3288983"/>
            <a:ext cx="6221779" cy="330741"/>
          </a:xfrm>
          <a:prstGeom prst="roundRect">
            <a:avLst>
              <a:gd name="adj" fmla="val 50000"/>
            </a:avLst>
          </a:prstGeom>
          <a:gradFill>
            <a:gsLst>
              <a:gs pos="72000">
                <a:srgbClr val="A32AD4"/>
              </a:gs>
              <a:gs pos="100000">
                <a:srgbClr val="7030A0"/>
              </a:gs>
              <a:gs pos="0">
                <a:srgbClr val="0070C0"/>
              </a:gs>
              <a:gs pos="32000">
                <a:srgbClr val="00B0F0"/>
              </a:gs>
            </a:gsLst>
            <a:lin ang="189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48F7983-52B1-8F57-410C-69A4F5EC143C}"/>
              </a:ext>
            </a:extLst>
          </p:cNvPr>
          <p:cNvSpPr txBox="1"/>
          <p:nvPr/>
        </p:nvSpPr>
        <p:spPr>
          <a:xfrm>
            <a:off x="476183" y="2326977"/>
            <a:ext cx="17207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C++</a:t>
            </a:r>
            <a:endParaRPr lang="zh-CN" altLang="en-US" sz="28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0BC975B-10D8-EF13-3DF6-79BDF24825E0}"/>
              </a:ext>
            </a:extLst>
          </p:cNvPr>
          <p:cNvSpPr txBox="1"/>
          <p:nvPr/>
        </p:nvSpPr>
        <p:spPr>
          <a:xfrm>
            <a:off x="476183" y="3192743"/>
            <a:ext cx="17207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Python</a:t>
            </a:r>
            <a:endParaRPr lang="zh-CN" altLang="en-US" sz="28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A67E9D5-F9A9-9E16-412E-38D3DE150150}"/>
              </a:ext>
            </a:extLst>
          </p:cNvPr>
          <p:cNvSpPr txBox="1"/>
          <p:nvPr/>
        </p:nvSpPr>
        <p:spPr>
          <a:xfrm>
            <a:off x="476183" y="4058509"/>
            <a:ext cx="172071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Python+</a:t>
            </a:r>
          </a:p>
          <a:p>
            <a:pPr algn="ctr"/>
            <a:r>
              <a:rPr lang="en-US" altLang="zh-CN" sz="24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ChatGPT-4</a:t>
            </a:r>
            <a:endParaRPr lang="zh-CN" altLang="en-US" sz="2400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E091D6C-95D2-1B31-2721-44158E947286}"/>
              </a:ext>
            </a:extLst>
          </p:cNvPr>
          <p:cNvSpPr/>
          <p:nvPr/>
        </p:nvSpPr>
        <p:spPr>
          <a:xfrm>
            <a:off x="2641530" y="4339414"/>
            <a:ext cx="1720716" cy="33074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16000">
                <a:srgbClr val="00B050"/>
              </a:gs>
              <a:gs pos="100000">
                <a:srgbClr val="0070C0"/>
              </a:gs>
              <a:gs pos="78000">
                <a:srgbClr val="00B0F0"/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763BA14-7451-DAD9-713E-E879EBFA2CB2}"/>
              </a:ext>
            </a:extLst>
          </p:cNvPr>
          <p:cNvSpPr/>
          <p:nvPr/>
        </p:nvSpPr>
        <p:spPr>
          <a:xfrm>
            <a:off x="4362247" y="4339414"/>
            <a:ext cx="5188224" cy="330741"/>
          </a:xfrm>
          <a:prstGeom prst="roundRect">
            <a:avLst>
              <a:gd name="adj" fmla="val 50000"/>
            </a:avLst>
          </a:prstGeom>
          <a:gradFill>
            <a:gsLst>
              <a:gs pos="72000">
                <a:srgbClr val="A32AD4"/>
              </a:gs>
              <a:gs pos="100000">
                <a:srgbClr val="7030A0"/>
              </a:gs>
              <a:gs pos="0">
                <a:srgbClr val="0070C0"/>
              </a:gs>
              <a:gs pos="32000">
                <a:srgbClr val="00B0F0"/>
              </a:gs>
            </a:gsLst>
            <a:lin ang="189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9355EFF-D881-DF7C-9166-8DBBDA03AF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904" y="762019"/>
            <a:ext cx="9104192" cy="5715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8231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9B882B7-8C3B-4F22-A224-6ECF8E442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49309" cy="600075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E07CAB2E-BBCA-82B6-1834-C825471483EC}"/>
              </a:ext>
            </a:extLst>
          </p:cNvPr>
          <p:cNvSpPr/>
          <p:nvPr/>
        </p:nvSpPr>
        <p:spPr>
          <a:xfrm>
            <a:off x="2641530" y="1966014"/>
            <a:ext cx="6453830" cy="33074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16000">
                <a:srgbClr val="00B050"/>
              </a:gs>
              <a:gs pos="100000">
                <a:srgbClr val="0070C0"/>
              </a:gs>
              <a:gs pos="78000">
                <a:srgbClr val="00B0F0"/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EF25758-00D8-C66E-37E1-4B5CA7A2DD71}"/>
              </a:ext>
            </a:extLst>
          </p:cNvPr>
          <p:cNvSpPr/>
          <p:nvPr/>
        </p:nvSpPr>
        <p:spPr>
          <a:xfrm>
            <a:off x="9095360" y="1966013"/>
            <a:ext cx="2165347" cy="330741"/>
          </a:xfrm>
          <a:prstGeom prst="roundRect">
            <a:avLst>
              <a:gd name="adj" fmla="val 50000"/>
            </a:avLst>
          </a:prstGeom>
          <a:gradFill>
            <a:gsLst>
              <a:gs pos="72000">
                <a:srgbClr val="A32AD4"/>
              </a:gs>
              <a:gs pos="100000">
                <a:srgbClr val="7030A0"/>
              </a:gs>
              <a:gs pos="0">
                <a:srgbClr val="0070C0"/>
              </a:gs>
              <a:gs pos="32000">
                <a:srgbClr val="00B0F0"/>
              </a:gs>
            </a:gsLst>
            <a:lin ang="189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B4E3B3D-E526-8152-5E11-422AF6A168D9}"/>
              </a:ext>
            </a:extLst>
          </p:cNvPr>
          <p:cNvSpPr/>
          <p:nvPr/>
        </p:nvSpPr>
        <p:spPr>
          <a:xfrm>
            <a:off x="2641530" y="2831780"/>
            <a:ext cx="2397398" cy="33074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16000">
                <a:srgbClr val="00B050"/>
              </a:gs>
              <a:gs pos="100000">
                <a:srgbClr val="0070C0"/>
              </a:gs>
              <a:gs pos="78000">
                <a:srgbClr val="00B0F0"/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607CAE3-35E1-3D8F-FDE6-FAED70DB97E7}"/>
              </a:ext>
            </a:extLst>
          </p:cNvPr>
          <p:cNvSpPr/>
          <p:nvPr/>
        </p:nvSpPr>
        <p:spPr>
          <a:xfrm>
            <a:off x="5038928" y="2831779"/>
            <a:ext cx="6221779" cy="330741"/>
          </a:xfrm>
          <a:prstGeom prst="roundRect">
            <a:avLst>
              <a:gd name="adj" fmla="val 50000"/>
            </a:avLst>
          </a:prstGeom>
          <a:gradFill>
            <a:gsLst>
              <a:gs pos="72000">
                <a:srgbClr val="A32AD4"/>
              </a:gs>
              <a:gs pos="100000">
                <a:srgbClr val="7030A0"/>
              </a:gs>
              <a:gs pos="0">
                <a:srgbClr val="0070C0"/>
              </a:gs>
              <a:gs pos="32000">
                <a:srgbClr val="00B0F0"/>
              </a:gs>
            </a:gsLst>
            <a:lin ang="189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48F7983-52B1-8F57-410C-69A4F5EC143C}"/>
              </a:ext>
            </a:extLst>
          </p:cNvPr>
          <p:cNvSpPr txBox="1"/>
          <p:nvPr/>
        </p:nvSpPr>
        <p:spPr>
          <a:xfrm>
            <a:off x="476183" y="1869773"/>
            <a:ext cx="17207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C++</a:t>
            </a:r>
            <a:endParaRPr lang="zh-CN" altLang="en-US" sz="28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0BC975B-10D8-EF13-3DF6-79BDF24825E0}"/>
              </a:ext>
            </a:extLst>
          </p:cNvPr>
          <p:cNvSpPr txBox="1"/>
          <p:nvPr/>
        </p:nvSpPr>
        <p:spPr>
          <a:xfrm>
            <a:off x="476183" y="2735539"/>
            <a:ext cx="17207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Python</a:t>
            </a:r>
            <a:endParaRPr lang="zh-CN" altLang="en-US" sz="28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A67E9D5-F9A9-9E16-412E-38D3DE150150}"/>
              </a:ext>
            </a:extLst>
          </p:cNvPr>
          <p:cNvSpPr txBox="1"/>
          <p:nvPr/>
        </p:nvSpPr>
        <p:spPr>
          <a:xfrm>
            <a:off x="476183" y="3601305"/>
            <a:ext cx="172071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Python+</a:t>
            </a:r>
          </a:p>
          <a:p>
            <a:pPr algn="ctr"/>
            <a:r>
              <a:rPr lang="en-US" altLang="zh-CN" sz="24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ChatGPT-4</a:t>
            </a:r>
            <a:endParaRPr lang="zh-CN" altLang="en-US" sz="2400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E091D6C-95D2-1B31-2721-44158E947286}"/>
              </a:ext>
            </a:extLst>
          </p:cNvPr>
          <p:cNvSpPr/>
          <p:nvPr/>
        </p:nvSpPr>
        <p:spPr>
          <a:xfrm>
            <a:off x="2641530" y="3882210"/>
            <a:ext cx="1720716" cy="33074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16000">
                <a:srgbClr val="00B050"/>
              </a:gs>
              <a:gs pos="100000">
                <a:srgbClr val="0070C0"/>
              </a:gs>
              <a:gs pos="78000">
                <a:srgbClr val="00B0F0"/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763BA14-7451-DAD9-713E-E879EBFA2CB2}"/>
              </a:ext>
            </a:extLst>
          </p:cNvPr>
          <p:cNvSpPr/>
          <p:nvPr/>
        </p:nvSpPr>
        <p:spPr>
          <a:xfrm>
            <a:off x="4362247" y="3882210"/>
            <a:ext cx="5188224" cy="330741"/>
          </a:xfrm>
          <a:prstGeom prst="roundRect">
            <a:avLst>
              <a:gd name="adj" fmla="val 50000"/>
            </a:avLst>
          </a:prstGeom>
          <a:gradFill>
            <a:gsLst>
              <a:gs pos="72000">
                <a:srgbClr val="A32AD4"/>
              </a:gs>
              <a:gs pos="100000">
                <a:srgbClr val="7030A0"/>
              </a:gs>
              <a:gs pos="0">
                <a:srgbClr val="0070C0"/>
              </a:gs>
              <a:gs pos="32000">
                <a:srgbClr val="00B0F0"/>
              </a:gs>
            </a:gsLst>
            <a:lin ang="189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69EF383-8FAD-228E-D61F-1100FBCA2F50}"/>
              </a:ext>
            </a:extLst>
          </p:cNvPr>
          <p:cNvSpPr txBox="1"/>
          <p:nvPr/>
        </p:nvSpPr>
        <p:spPr>
          <a:xfrm>
            <a:off x="476183" y="4836403"/>
            <a:ext cx="172071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Python+</a:t>
            </a:r>
          </a:p>
          <a:p>
            <a:pPr algn="ctr"/>
            <a:r>
              <a:rPr lang="en-US" altLang="zh-CN" sz="24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ChatGPT-4</a:t>
            </a:r>
          </a:p>
          <a:p>
            <a:pPr algn="ctr"/>
            <a:r>
              <a:rPr lang="en-US" altLang="zh-CN" sz="2800" b="1" spc="-5" dirty="0">
                <a:solidFill>
                  <a:srgbClr val="FFFF00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+?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B7B91D3-A29E-A27C-5BF9-8E6814814B35}"/>
              </a:ext>
            </a:extLst>
          </p:cNvPr>
          <p:cNvSpPr/>
          <p:nvPr/>
        </p:nvSpPr>
        <p:spPr>
          <a:xfrm>
            <a:off x="2641530" y="5332751"/>
            <a:ext cx="1720716" cy="33074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16000">
                <a:srgbClr val="00B050"/>
              </a:gs>
              <a:gs pos="100000">
                <a:srgbClr val="0070C0"/>
              </a:gs>
              <a:gs pos="78000">
                <a:srgbClr val="00B0F0"/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EA7313A-0D3B-0D13-2E4C-FCE3E218AFB1}"/>
              </a:ext>
            </a:extLst>
          </p:cNvPr>
          <p:cNvSpPr/>
          <p:nvPr/>
        </p:nvSpPr>
        <p:spPr>
          <a:xfrm>
            <a:off x="4362246" y="5332750"/>
            <a:ext cx="2397398" cy="330741"/>
          </a:xfrm>
          <a:prstGeom prst="roundRect">
            <a:avLst>
              <a:gd name="adj" fmla="val 50000"/>
            </a:avLst>
          </a:prstGeom>
          <a:gradFill>
            <a:gsLst>
              <a:gs pos="72000">
                <a:srgbClr val="A32AD4"/>
              </a:gs>
              <a:gs pos="100000">
                <a:srgbClr val="7030A0"/>
              </a:gs>
              <a:gs pos="0">
                <a:srgbClr val="0070C0"/>
              </a:gs>
              <a:gs pos="32000">
                <a:srgbClr val="00B0F0"/>
              </a:gs>
            </a:gsLst>
            <a:lin ang="189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69717B9-C974-74DA-F6E9-24FC093DA91C}"/>
              </a:ext>
            </a:extLst>
          </p:cNvPr>
          <p:cNvSpPr txBox="1"/>
          <p:nvPr/>
        </p:nvSpPr>
        <p:spPr>
          <a:xfrm>
            <a:off x="2267622" y="600075"/>
            <a:ext cx="76567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Time Comparison for Developing a Project: </a:t>
            </a:r>
          </a:p>
          <a:p>
            <a:pPr algn="ctr"/>
            <a:r>
              <a:rPr lang="en-US" altLang="zh-CN" sz="2800" b="1" spc="-5" dirty="0">
                <a:gradFill>
                  <a:gsLst>
                    <a:gs pos="23000">
                      <a:srgbClr val="00B050"/>
                    </a:gs>
                    <a:gs pos="0">
                      <a:schemeClr val="accent6">
                        <a:lumMod val="75000"/>
                      </a:schemeClr>
                    </a:gs>
                    <a:gs pos="98000">
                      <a:srgbClr val="0070C0"/>
                    </a:gs>
                    <a:gs pos="65000">
                      <a:srgbClr val="0078C6"/>
                    </a:gs>
                    <a:gs pos="45000">
                      <a:srgbClr val="00B0F0"/>
                    </a:gs>
                  </a:gsLst>
                  <a:lin ang="18900000" scaled="1"/>
                </a:gra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Coding Time </a:t>
            </a:r>
            <a:r>
              <a:rPr lang="en-US" altLang="zh-CN" sz="28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and </a:t>
            </a:r>
            <a:r>
              <a:rPr lang="en-US" altLang="zh-CN" sz="2800" b="1" spc="-5" dirty="0">
                <a:gradFill>
                  <a:gsLst>
                    <a:gs pos="69000">
                      <a:srgbClr val="A32AD4"/>
                    </a:gs>
                    <a:gs pos="95000">
                      <a:srgbClr val="7030A0"/>
                    </a:gs>
                    <a:gs pos="22000">
                      <a:srgbClr val="0070C0"/>
                    </a:gs>
                    <a:gs pos="45000">
                      <a:srgbClr val="00B0F0"/>
                    </a:gs>
                  </a:gsLst>
                  <a:lin ang="18900000" scaled="1"/>
                </a:gra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Execution Time</a:t>
            </a:r>
            <a:endParaRPr lang="zh-CN" altLang="en-US" sz="2800" dirty="0">
              <a:gradFill>
                <a:gsLst>
                  <a:gs pos="69000">
                    <a:srgbClr val="A32AD4"/>
                  </a:gs>
                  <a:gs pos="95000">
                    <a:srgbClr val="7030A0"/>
                  </a:gs>
                  <a:gs pos="22000">
                    <a:srgbClr val="0070C0"/>
                  </a:gs>
                  <a:gs pos="45000">
                    <a:srgbClr val="00B0F0"/>
                  </a:gs>
                </a:gsLst>
                <a:lin ang="189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329751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18">
            <a:extLst>
              <a:ext uri="{FF2B5EF4-FFF2-40B4-BE49-F238E27FC236}">
                <a16:creationId xmlns:a16="http://schemas.microsoft.com/office/drawing/2014/main" id="{B1B3FE77-B3CC-8BBF-76CA-8D7491B49D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8687" y="3176366"/>
            <a:ext cx="1033462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How to accelerate your python Genetic Programming Codes?</a:t>
            </a:r>
            <a:endParaRPr sz="32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9B882B7-8C3B-4F22-A224-6ECF8E442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49309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610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18">
            <a:extLst>
              <a:ext uri="{FF2B5EF4-FFF2-40B4-BE49-F238E27FC236}">
                <a16:creationId xmlns:a16="http://schemas.microsoft.com/office/drawing/2014/main" id="{B1B3FE77-B3CC-8BBF-76CA-8D7491B49D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42861" y="2068371"/>
            <a:ext cx="6906277" cy="27212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for </a:t>
            </a:r>
            <a:r>
              <a:rPr lang="en-US" i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individual</a:t>
            </a:r>
            <a:r>
              <a:rPr lang="en-US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in </a:t>
            </a:r>
            <a:r>
              <a:rPr lang="en-US" i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population</a:t>
            </a:r>
            <a:r>
              <a:rPr lang="en-US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:</a:t>
            </a:r>
            <a:br>
              <a:rPr lang="en-US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simulation(</a:t>
            </a:r>
            <a:r>
              <a:rPr lang="en-US" i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individual</a:t>
            </a:r>
            <a:r>
              <a:rPr lang="en-US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);</a:t>
            </a:r>
            <a:br>
              <a:rPr lang="en-US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offspring;</a:t>
            </a:r>
            <a:br>
              <a:rPr lang="en-US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end for</a:t>
            </a:r>
            <a:endParaRPr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9B882B7-8C3B-4F22-A224-6ECF8E442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49309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81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18">
            <a:extLst>
              <a:ext uri="{FF2B5EF4-FFF2-40B4-BE49-F238E27FC236}">
                <a16:creationId xmlns:a16="http://schemas.microsoft.com/office/drawing/2014/main" id="{B1B3FE77-B3CC-8BBF-76CA-8D7491B49D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42861" y="2068371"/>
            <a:ext cx="6906277" cy="27212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for </a:t>
            </a:r>
            <a:r>
              <a:rPr lang="en-US" i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individual</a:t>
            </a:r>
            <a:r>
              <a:rPr lang="en-US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in </a:t>
            </a:r>
            <a:r>
              <a:rPr lang="en-US" i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population</a:t>
            </a:r>
            <a:r>
              <a:rPr lang="en-US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:</a:t>
            </a:r>
            <a:br>
              <a:rPr lang="en-US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</a:t>
            </a:r>
            <a:r>
              <a:rPr lang="en-US" b="1" spc="-5" dirty="0">
                <a:solidFill>
                  <a:srgbClr val="FFFF00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simulation(</a:t>
            </a:r>
            <a:r>
              <a:rPr lang="en-US" i="1" spc="-5" dirty="0">
                <a:solidFill>
                  <a:srgbClr val="FFFF00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individual</a:t>
            </a:r>
            <a:r>
              <a:rPr lang="en-US" b="1" spc="-5" dirty="0">
                <a:solidFill>
                  <a:srgbClr val="FFFF00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);</a:t>
            </a:r>
            <a:br>
              <a:rPr lang="en-US" b="1" spc="-5" dirty="0">
                <a:solidFill>
                  <a:srgbClr val="FFFF00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offspring;</a:t>
            </a:r>
            <a:br>
              <a:rPr lang="en-US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end for</a:t>
            </a:r>
            <a:endParaRPr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9B882B7-8C3B-4F22-A224-6ECF8E442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49309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222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18">
            <a:extLst>
              <a:ext uri="{FF2B5EF4-FFF2-40B4-BE49-F238E27FC236}">
                <a16:creationId xmlns:a16="http://schemas.microsoft.com/office/drawing/2014/main" id="{B1B3FE77-B3CC-8BBF-76CA-8D7491B49D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8687" y="2745480"/>
            <a:ext cx="10334625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8800" b="1" spc="-5" dirty="0">
                <a:gradFill flip="none" rotWithShape="1">
                  <a:gsLst>
                    <a:gs pos="7000">
                      <a:srgbClr val="FFC000"/>
                    </a:gs>
                    <a:gs pos="86000">
                      <a:srgbClr val="7030A0">
                        <a:lumMod val="82000"/>
                        <a:lumOff val="18000"/>
                      </a:srgbClr>
                    </a:gs>
                    <a:gs pos="41000">
                      <a:srgbClr val="FF3399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Parallel</a:t>
            </a:r>
            <a:endParaRPr sz="8800" b="1" spc="-5" dirty="0">
              <a:gradFill flip="none" rotWithShape="1">
                <a:gsLst>
                  <a:gs pos="7000">
                    <a:srgbClr val="FFC000"/>
                  </a:gs>
                  <a:gs pos="86000">
                    <a:srgbClr val="7030A0">
                      <a:lumMod val="82000"/>
                      <a:lumOff val="18000"/>
                    </a:srgbClr>
                  </a:gs>
                  <a:gs pos="41000">
                    <a:srgbClr val="FF3399"/>
                  </a:gs>
                </a:gsLst>
                <a:path path="circle">
                  <a:fillToRect r="100000" b="100000"/>
                </a:path>
                <a:tileRect l="-100000" t="-100000"/>
              </a:gra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9B882B7-8C3B-4F22-A224-6ECF8E442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49309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623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9B882B7-8C3B-4F22-A224-6ECF8E442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49309" cy="600075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0B59B0C-4C22-4710-8B5F-245B469C2769}"/>
              </a:ext>
            </a:extLst>
          </p:cNvPr>
          <p:cNvSpPr/>
          <p:nvPr/>
        </p:nvSpPr>
        <p:spPr>
          <a:xfrm>
            <a:off x="2252313" y="941169"/>
            <a:ext cx="9450402" cy="1411606"/>
          </a:xfrm>
          <a:prstGeom prst="round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0BFA83B7-407F-4D3B-B9A2-205089C01586}"/>
              </a:ext>
            </a:extLst>
          </p:cNvPr>
          <p:cNvSpPr txBox="1">
            <a:spLocks/>
          </p:cNvSpPr>
          <p:nvPr/>
        </p:nvSpPr>
        <p:spPr>
          <a:xfrm>
            <a:off x="0" y="1141705"/>
            <a:ext cx="2440154" cy="101053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CPU 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Thread 0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82227E0-07E2-4693-A917-1AD670AE9A89}"/>
              </a:ext>
            </a:extLst>
          </p:cNvPr>
          <p:cNvGrpSpPr/>
          <p:nvPr/>
        </p:nvGrpSpPr>
        <p:grpSpPr>
          <a:xfrm>
            <a:off x="2478658" y="1169744"/>
            <a:ext cx="2213809" cy="954454"/>
            <a:chOff x="2478658" y="1569794"/>
            <a:chExt cx="2213809" cy="954454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E117E3B9-4725-48CD-8121-E447CC391038}"/>
                </a:ext>
              </a:extLst>
            </p:cNvPr>
            <p:cNvSpPr/>
            <p:nvPr/>
          </p:nvSpPr>
          <p:spPr>
            <a:xfrm>
              <a:off x="2478658" y="1569794"/>
              <a:ext cx="2213809" cy="954454"/>
            </a:xfrm>
            <a:prstGeom prst="roundRect">
              <a:avLst/>
            </a:prstGeom>
            <a:noFill/>
            <a:ln w="28575">
              <a:gradFill flip="none" rotWithShape="1">
                <a:gsLst>
                  <a:gs pos="0">
                    <a:srgbClr val="7030A0"/>
                  </a:gs>
                  <a:gs pos="31000">
                    <a:srgbClr val="A32AD4"/>
                  </a:gs>
                  <a:gs pos="100000">
                    <a:srgbClr val="0070C0"/>
                  </a:gs>
                  <a:gs pos="67000">
                    <a:srgbClr val="00B0F0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1" name="object 18">
              <a:extLst>
                <a:ext uri="{FF2B5EF4-FFF2-40B4-BE49-F238E27FC236}">
                  <a16:creationId xmlns:a16="http://schemas.microsoft.com/office/drawing/2014/main" id="{0F1C2F28-F902-48A2-8E87-74FF2B5AEF71}"/>
                </a:ext>
              </a:extLst>
            </p:cNvPr>
            <p:cNvSpPr txBox="1">
              <a:spLocks/>
            </p:cNvSpPr>
            <p:nvPr/>
          </p:nvSpPr>
          <p:spPr>
            <a:xfrm>
              <a:off x="2669997" y="1628313"/>
              <a:ext cx="1831130" cy="825867"/>
            </a:xfrm>
            <a:prstGeom prst="rect">
              <a:avLst/>
            </a:prstGeom>
          </p:spPr>
          <p:txBody>
            <a:bodyPr vert="horz" wrap="square" lIns="0" tIns="1270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32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Simulation</a:t>
              </a:r>
            </a:p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20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Individual 0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08DE600C-8F14-4539-A8F4-3330BA33CA3A}"/>
              </a:ext>
            </a:extLst>
          </p:cNvPr>
          <p:cNvGrpSpPr/>
          <p:nvPr/>
        </p:nvGrpSpPr>
        <p:grpSpPr>
          <a:xfrm>
            <a:off x="4763705" y="1169744"/>
            <a:ext cx="2213809" cy="954454"/>
            <a:chOff x="2478658" y="1569794"/>
            <a:chExt cx="2213809" cy="954454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7C4301E-A7F1-4D60-A334-B4D30C99E8F3}"/>
                </a:ext>
              </a:extLst>
            </p:cNvPr>
            <p:cNvSpPr/>
            <p:nvPr/>
          </p:nvSpPr>
          <p:spPr>
            <a:xfrm>
              <a:off x="2478658" y="1569794"/>
              <a:ext cx="2213809" cy="954454"/>
            </a:xfrm>
            <a:prstGeom prst="roundRect">
              <a:avLst/>
            </a:prstGeom>
            <a:noFill/>
            <a:ln w="28575">
              <a:gradFill flip="none" rotWithShape="1">
                <a:gsLst>
                  <a:gs pos="0">
                    <a:srgbClr val="7030A0"/>
                  </a:gs>
                  <a:gs pos="31000">
                    <a:srgbClr val="A32AD4"/>
                  </a:gs>
                  <a:gs pos="100000">
                    <a:srgbClr val="0070C0"/>
                  </a:gs>
                  <a:gs pos="67000">
                    <a:srgbClr val="00B0F0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" name="object 18">
              <a:extLst>
                <a:ext uri="{FF2B5EF4-FFF2-40B4-BE49-F238E27FC236}">
                  <a16:creationId xmlns:a16="http://schemas.microsoft.com/office/drawing/2014/main" id="{E9A7E3F8-2FD9-4C25-B49D-E834210CC300}"/>
                </a:ext>
              </a:extLst>
            </p:cNvPr>
            <p:cNvSpPr txBox="1">
              <a:spLocks/>
            </p:cNvSpPr>
            <p:nvPr/>
          </p:nvSpPr>
          <p:spPr>
            <a:xfrm>
              <a:off x="2669997" y="1628313"/>
              <a:ext cx="1831130" cy="825867"/>
            </a:xfrm>
            <a:prstGeom prst="rect">
              <a:avLst/>
            </a:prstGeom>
          </p:spPr>
          <p:txBody>
            <a:bodyPr vert="horz" wrap="square" lIns="0" tIns="1270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32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Simulation</a:t>
              </a:r>
            </a:p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20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Individual 16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4E6A3F7B-AC32-415B-8AFA-45EAB7453705}"/>
              </a:ext>
            </a:extLst>
          </p:cNvPr>
          <p:cNvGrpSpPr/>
          <p:nvPr/>
        </p:nvGrpSpPr>
        <p:grpSpPr>
          <a:xfrm>
            <a:off x="7048752" y="1163969"/>
            <a:ext cx="2213809" cy="954454"/>
            <a:chOff x="2478658" y="1569794"/>
            <a:chExt cx="2213809" cy="954454"/>
          </a:xfrm>
        </p:grpSpPr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6D31D3ED-C7B3-42BD-8CB5-268476E16D06}"/>
                </a:ext>
              </a:extLst>
            </p:cNvPr>
            <p:cNvSpPr/>
            <p:nvPr/>
          </p:nvSpPr>
          <p:spPr>
            <a:xfrm>
              <a:off x="2478658" y="1569794"/>
              <a:ext cx="2213809" cy="954454"/>
            </a:xfrm>
            <a:prstGeom prst="roundRect">
              <a:avLst/>
            </a:prstGeom>
            <a:noFill/>
            <a:ln w="28575">
              <a:gradFill flip="none" rotWithShape="1">
                <a:gsLst>
                  <a:gs pos="0">
                    <a:srgbClr val="7030A0"/>
                  </a:gs>
                  <a:gs pos="31000">
                    <a:srgbClr val="A32AD4"/>
                  </a:gs>
                  <a:gs pos="100000">
                    <a:srgbClr val="0070C0"/>
                  </a:gs>
                  <a:gs pos="67000">
                    <a:srgbClr val="00B0F0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" name="object 18">
              <a:extLst>
                <a:ext uri="{FF2B5EF4-FFF2-40B4-BE49-F238E27FC236}">
                  <a16:creationId xmlns:a16="http://schemas.microsoft.com/office/drawing/2014/main" id="{124C02F9-6ED2-4968-86B5-710E558EF9AB}"/>
                </a:ext>
              </a:extLst>
            </p:cNvPr>
            <p:cNvSpPr txBox="1">
              <a:spLocks/>
            </p:cNvSpPr>
            <p:nvPr/>
          </p:nvSpPr>
          <p:spPr>
            <a:xfrm>
              <a:off x="2669997" y="1628313"/>
              <a:ext cx="1831130" cy="825867"/>
            </a:xfrm>
            <a:prstGeom prst="rect">
              <a:avLst/>
            </a:prstGeom>
          </p:spPr>
          <p:txBody>
            <a:bodyPr vert="horz" wrap="square" lIns="0" tIns="1270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32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Simulation</a:t>
              </a:r>
            </a:p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20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Individual 32</a:t>
              </a:r>
            </a:p>
          </p:txBody>
        </p:sp>
      </p:grp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6D13E9CC-824D-4A85-9254-34DFFE51C00F}"/>
              </a:ext>
            </a:extLst>
          </p:cNvPr>
          <p:cNvSpPr/>
          <p:nvPr/>
        </p:nvSpPr>
        <p:spPr>
          <a:xfrm>
            <a:off x="2252313" y="2494057"/>
            <a:ext cx="9450402" cy="1411606"/>
          </a:xfrm>
          <a:prstGeom prst="round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3" name="object 18">
            <a:extLst>
              <a:ext uri="{FF2B5EF4-FFF2-40B4-BE49-F238E27FC236}">
                <a16:creationId xmlns:a16="http://schemas.microsoft.com/office/drawing/2014/main" id="{82C9F747-DC6A-4D5B-B336-AE9B7F5A32F4}"/>
              </a:ext>
            </a:extLst>
          </p:cNvPr>
          <p:cNvSpPr txBox="1">
            <a:spLocks/>
          </p:cNvSpPr>
          <p:nvPr/>
        </p:nvSpPr>
        <p:spPr>
          <a:xfrm>
            <a:off x="0" y="2694593"/>
            <a:ext cx="2440154" cy="101053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CPU 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Thread 1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B0C0A69-F4C4-4138-B400-F982596B6ACE}"/>
              </a:ext>
            </a:extLst>
          </p:cNvPr>
          <p:cNvGrpSpPr/>
          <p:nvPr/>
        </p:nvGrpSpPr>
        <p:grpSpPr>
          <a:xfrm>
            <a:off x="2478658" y="2722632"/>
            <a:ext cx="2213809" cy="954454"/>
            <a:chOff x="2478658" y="1569794"/>
            <a:chExt cx="2213809" cy="954454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37AD61B5-327A-4B09-A617-FD125544066C}"/>
                </a:ext>
              </a:extLst>
            </p:cNvPr>
            <p:cNvSpPr/>
            <p:nvPr/>
          </p:nvSpPr>
          <p:spPr>
            <a:xfrm>
              <a:off x="2478658" y="1569794"/>
              <a:ext cx="2213809" cy="954454"/>
            </a:xfrm>
            <a:prstGeom prst="roundRect">
              <a:avLst/>
            </a:prstGeom>
            <a:noFill/>
            <a:ln w="28575">
              <a:gradFill flip="none" rotWithShape="1">
                <a:gsLst>
                  <a:gs pos="0">
                    <a:srgbClr val="7030A0"/>
                  </a:gs>
                  <a:gs pos="31000">
                    <a:srgbClr val="A32AD4"/>
                  </a:gs>
                  <a:gs pos="100000">
                    <a:srgbClr val="0070C0"/>
                  </a:gs>
                  <a:gs pos="67000">
                    <a:srgbClr val="00B0F0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6" name="object 18">
              <a:extLst>
                <a:ext uri="{FF2B5EF4-FFF2-40B4-BE49-F238E27FC236}">
                  <a16:creationId xmlns:a16="http://schemas.microsoft.com/office/drawing/2014/main" id="{2F355129-04DC-46B5-94EC-3F3EB8A849C7}"/>
                </a:ext>
              </a:extLst>
            </p:cNvPr>
            <p:cNvSpPr txBox="1">
              <a:spLocks/>
            </p:cNvSpPr>
            <p:nvPr/>
          </p:nvSpPr>
          <p:spPr>
            <a:xfrm>
              <a:off x="2669997" y="1628313"/>
              <a:ext cx="1831130" cy="825867"/>
            </a:xfrm>
            <a:prstGeom prst="rect">
              <a:avLst/>
            </a:prstGeom>
          </p:spPr>
          <p:txBody>
            <a:bodyPr vert="horz" wrap="square" lIns="0" tIns="1270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32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Simulation</a:t>
              </a:r>
            </a:p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20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Individual 1</a:t>
              </a: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6BE69B56-7383-47AB-A43F-A452894E9354}"/>
              </a:ext>
            </a:extLst>
          </p:cNvPr>
          <p:cNvGrpSpPr/>
          <p:nvPr/>
        </p:nvGrpSpPr>
        <p:grpSpPr>
          <a:xfrm>
            <a:off x="4763705" y="2722632"/>
            <a:ext cx="2213809" cy="954454"/>
            <a:chOff x="2478658" y="1569794"/>
            <a:chExt cx="2213809" cy="954454"/>
          </a:xfrm>
        </p:grpSpPr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BFA636BC-A2A6-4BAA-9D67-BB7791F935D9}"/>
                </a:ext>
              </a:extLst>
            </p:cNvPr>
            <p:cNvSpPr/>
            <p:nvPr/>
          </p:nvSpPr>
          <p:spPr>
            <a:xfrm>
              <a:off x="2478658" y="1569794"/>
              <a:ext cx="2213809" cy="954454"/>
            </a:xfrm>
            <a:prstGeom prst="roundRect">
              <a:avLst/>
            </a:prstGeom>
            <a:noFill/>
            <a:ln w="28575">
              <a:gradFill flip="none" rotWithShape="1">
                <a:gsLst>
                  <a:gs pos="0">
                    <a:srgbClr val="7030A0"/>
                  </a:gs>
                  <a:gs pos="31000">
                    <a:srgbClr val="A32AD4"/>
                  </a:gs>
                  <a:gs pos="100000">
                    <a:srgbClr val="0070C0"/>
                  </a:gs>
                  <a:gs pos="67000">
                    <a:srgbClr val="00B0F0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9" name="object 18">
              <a:extLst>
                <a:ext uri="{FF2B5EF4-FFF2-40B4-BE49-F238E27FC236}">
                  <a16:creationId xmlns:a16="http://schemas.microsoft.com/office/drawing/2014/main" id="{4C0ABAFE-F0B5-47DC-8065-2ED25875698F}"/>
                </a:ext>
              </a:extLst>
            </p:cNvPr>
            <p:cNvSpPr txBox="1">
              <a:spLocks/>
            </p:cNvSpPr>
            <p:nvPr/>
          </p:nvSpPr>
          <p:spPr>
            <a:xfrm>
              <a:off x="2669997" y="1628313"/>
              <a:ext cx="1831130" cy="825867"/>
            </a:xfrm>
            <a:prstGeom prst="rect">
              <a:avLst/>
            </a:prstGeom>
          </p:spPr>
          <p:txBody>
            <a:bodyPr vert="horz" wrap="square" lIns="0" tIns="1270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32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Simulation</a:t>
              </a:r>
            </a:p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20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Individual 17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7A41F579-DF74-4EAC-AE6B-171E98F9E9C4}"/>
              </a:ext>
            </a:extLst>
          </p:cNvPr>
          <p:cNvGrpSpPr/>
          <p:nvPr/>
        </p:nvGrpSpPr>
        <p:grpSpPr>
          <a:xfrm>
            <a:off x="7048752" y="2716857"/>
            <a:ext cx="2213809" cy="954454"/>
            <a:chOff x="2478658" y="1569794"/>
            <a:chExt cx="2213809" cy="954454"/>
          </a:xfrm>
        </p:grpSpPr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FA7D163E-9341-469F-8691-137706F6D670}"/>
                </a:ext>
              </a:extLst>
            </p:cNvPr>
            <p:cNvSpPr/>
            <p:nvPr/>
          </p:nvSpPr>
          <p:spPr>
            <a:xfrm>
              <a:off x="2478658" y="1569794"/>
              <a:ext cx="2213809" cy="954454"/>
            </a:xfrm>
            <a:prstGeom prst="roundRect">
              <a:avLst/>
            </a:prstGeom>
            <a:noFill/>
            <a:ln w="28575">
              <a:gradFill flip="none" rotWithShape="1">
                <a:gsLst>
                  <a:gs pos="0">
                    <a:srgbClr val="7030A0"/>
                  </a:gs>
                  <a:gs pos="31000">
                    <a:srgbClr val="A32AD4"/>
                  </a:gs>
                  <a:gs pos="100000">
                    <a:srgbClr val="0070C0"/>
                  </a:gs>
                  <a:gs pos="67000">
                    <a:srgbClr val="00B0F0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2" name="object 18">
              <a:extLst>
                <a:ext uri="{FF2B5EF4-FFF2-40B4-BE49-F238E27FC236}">
                  <a16:creationId xmlns:a16="http://schemas.microsoft.com/office/drawing/2014/main" id="{750AC2B2-3BDD-436A-B690-A53F911044E1}"/>
                </a:ext>
              </a:extLst>
            </p:cNvPr>
            <p:cNvSpPr txBox="1">
              <a:spLocks/>
            </p:cNvSpPr>
            <p:nvPr/>
          </p:nvSpPr>
          <p:spPr>
            <a:xfrm>
              <a:off x="2669997" y="1628313"/>
              <a:ext cx="1831130" cy="825867"/>
            </a:xfrm>
            <a:prstGeom prst="rect">
              <a:avLst/>
            </a:prstGeom>
          </p:spPr>
          <p:txBody>
            <a:bodyPr vert="horz" wrap="square" lIns="0" tIns="1270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32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Simulation</a:t>
              </a:r>
            </a:p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20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Individual 33</a:t>
              </a:r>
            </a:p>
          </p:txBody>
        </p:sp>
      </p:grp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E43EFF2C-6920-4AAE-99C0-0EF426F48CE4}"/>
              </a:ext>
            </a:extLst>
          </p:cNvPr>
          <p:cNvSpPr/>
          <p:nvPr/>
        </p:nvSpPr>
        <p:spPr>
          <a:xfrm>
            <a:off x="2252313" y="4923934"/>
            <a:ext cx="9450402" cy="1411606"/>
          </a:xfrm>
          <a:prstGeom prst="round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6" name="object 18">
            <a:extLst>
              <a:ext uri="{FF2B5EF4-FFF2-40B4-BE49-F238E27FC236}">
                <a16:creationId xmlns:a16="http://schemas.microsoft.com/office/drawing/2014/main" id="{FCE92907-4DD4-44B9-8858-A2CEC94F36B5}"/>
              </a:ext>
            </a:extLst>
          </p:cNvPr>
          <p:cNvSpPr txBox="1">
            <a:spLocks/>
          </p:cNvSpPr>
          <p:nvPr/>
        </p:nvSpPr>
        <p:spPr>
          <a:xfrm>
            <a:off x="0" y="5124470"/>
            <a:ext cx="2440154" cy="101053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CPU 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Thread 15</a:t>
            </a: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CF660AAE-15E6-4BB1-80A2-9F86E160B44B}"/>
              </a:ext>
            </a:extLst>
          </p:cNvPr>
          <p:cNvGrpSpPr/>
          <p:nvPr/>
        </p:nvGrpSpPr>
        <p:grpSpPr>
          <a:xfrm>
            <a:off x="2478658" y="5152509"/>
            <a:ext cx="2213809" cy="954454"/>
            <a:chOff x="2478658" y="1569794"/>
            <a:chExt cx="2213809" cy="954454"/>
          </a:xfrm>
        </p:grpSpPr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2CA55D0E-943F-4C97-82DA-444A8BAFBBFD}"/>
                </a:ext>
              </a:extLst>
            </p:cNvPr>
            <p:cNvSpPr/>
            <p:nvPr/>
          </p:nvSpPr>
          <p:spPr>
            <a:xfrm>
              <a:off x="2478658" y="1569794"/>
              <a:ext cx="2213809" cy="954454"/>
            </a:xfrm>
            <a:prstGeom prst="roundRect">
              <a:avLst/>
            </a:prstGeom>
            <a:noFill/>
            <a:ln w="28575">
              <a:gradFill flip="none" rotWithShape="1">
                <a:gsLst>
                  <a:gs pos="0">
                    <a:srgbClr val="7030A0"/>
                  </a:gs>
                  <a:gs pos="31000">
                    <a:srgbClr val="A32AD4"/>
                  </a:gs>
                  <a:gs pos="100000">
                    <a:srgbClr val="0070C0"/>
                  </a:gs>
                  <a:gs pos="67000">
                    <a:srgbClr val="00B0F0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9" name="object 18">
              <a:extLst>
                <a:ext uri="{FF2B5EF4-FFF2-40B4-BE49-F238E27FC236}">
                  <a16:creationId xmlns:a16="http://schemas.microsoft.com/office/drawing/2014/main" id="{B3ED3FBB-06B0-4362-9624-11DC5BB30A01}"/>
                </a:ext>
              </a:extLst>
            </p:cNvPr>
            <p:cNvSpPr txBox="1">
              <a:spLocks/>
            </p:cNvSpPr>
            <p:nvPr/>
          </p:nvSpPr>
          <p:spPr>
            <a:xfrm>
              <a:off x="2669997" y="1628313"/>
              <a:ext cx="1831130" cy="825867"/>
            </a:xfrm>
            <a:prstGeom prst="rect">
              <a:avLst/>
            </a:prstGeom>
          </p:spPr>
          <p:txBody>
            <a:bodyPr vert="horz" wrap="square" lIns="0" tIns="1270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32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Simulation</a:t>
              </a:r>
            </a:p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20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Individual 15</a:t>
              </a: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C04801E0-C654-4445-99B6-FF4603F45E21}"/>
              </a:ext>
            </a:extLst>
          </p:cNvPr>
          <p:cNvGrpSpPr/>
          <p:nvPr/>
        </p:nvGrpSpPr>
        <p:grpSpPr>
          <a:xfrm>
            <a:off x="4763705" y="5152509"/>
            <a:ext cx="2213809" cy="954454"/>
            <a:chOff x="2478658" y="1569794"/>
            <a:chExt cx="2213809" cy="954454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79189E4B-63D1-40B6-B065-6BB3175F5A91}"/>
                </a:ext>
              </a:extLst>
            </p:cNvPr>
            <p:cNvSpPr/>
            <p:nvPr/>
          </p:nvSpPr>
          <p:spPr>
            <a:xfrm>
              <a:off x="2478658" y="1569794"/>
              <a:ext cx="2213809" cy="954454"/>
            </a:xfrm>
            <a:prstGeom prst="roundRect">
              <a:avLst/>
            </a:prstGeom>
            <a:noFill/>
            <a:ln w="28575">
              <a:gradFill flip="none" rotWithShape="1">
                <a:gsLst>
                  <a:gs pos="0">
                    <a:srgbClr val="7030A0"/>
                  </a:gs>
                  <a:gs pos="31000">
                    <a:srgbClr val="A32AD4"/>
                  </a:gs>
                  <a:gs pos="100000">
                    <a:srgbClr val="0070C0"/>
                  </a:gs>
                  <a:gs pos="67000">
                    <a:srgbClr val="00B0F0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2" name="object 18">
              <a:extLst>
                <a:ext uri="{FF2B5EF4-FFF2-40B4-BE49-F238E27FC236}">
                  <a16:creationId xmlns:a16="http://schemas.microsoft.com/office/drawing/2014/main" id="{57EC4FA8-5987-47EA-9492-72287D12C192}"/>
                </a:ext>
              </a:extLst>
            </p:cNvPr>
            <p:cNvSpPr txBox="1">
              <a:spLocks/>
            </p:cNvSpPr>
            <p:nvPr/>
          </p:nvSpPr>
          <p:spPr>
            <a:xfrm>
              <a:off x="2669997" y="1628313"/>
              <a:ext cx="1831130" cy="825867"/>
            </a:xfrm>
            <a:prstGeom prst="rect">
              <a:avLst/>
            </a:prstGeom>
          </p:spPr>
          <p:txBody>
            <a:bodyPr vert="horz" wrap="square" lIns="0" tIns="1270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32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Simulation</a:t>
              </a:r>
            </a:p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20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Individual 31</a:t>
              </a: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A2402C19-4639-45DC-9CF6-2E496E011439}"/>
              </a:ext>
            </a:extLst>
          </p:cNvPr>
          <p:cNvGrpSpPr/>
          <p:nvPr/>
        </p:nvGrpSpPr>
        <p:grpSpPr>
          <a:xfrm>
            <a:off x="7048752" y="5146734"/>
            <a:ext cx="2213809" cy="954454"/>
            <a:chOff x="2478658" y="1569794"/>
            <a:chExt cx="2213809" cy="954454"/>
          </a:xfrm>
        </p:grpSpPr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708B28CC-9464-4750-BA73-24E686E8437C}"/>
                </a:ext>
              </a:extLst>
            </p:cNvPr>
            <p:cNvSpPr/>
            <p:nvPr/>
          </p:nvSpPr>
          <p:spPr>
            <a:xfrm>
              <a:off x="2478658" y="1569794"/>
              <a:ext cx="2213809" cy="954454"/>
            </a:xfrm>
            <a:prstGeom prst="roundRect">
              <a:avLst/>
            </a:prstGeom>
            <a:noFill/>
            <a:ln w="28575">
              <a:gradFill flip="none" rotWithShape="1">
                <a:gsLst>
                  <a:gs pos="0">
                    <a:srgbClr val="7030A0"/>
                  </a:gs>
                  <a:gs pos="31000">
                    <a:srgbClr val="A32AD4"/>
                  </a:gs>
                  <a:gs pos="100000">
                    <a:srgbClr val="0070C0"/>
                  </a:gs>
                  <a:gs pos="67000">
                    <a:srgbClr val="00B0F0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5" name="object 18">
              <a:extLst>
                <a:ext uri="{FF2B5EF4-FFF2-40B4-BE49-F238E27FC236}">
                  <a16:creationId xmlns:a16="http://schemas.microsoft.com/office/drawing/2014/main" id="{16E7634E-BCBE-414E-8466-E637D9F9105C}"/>
                </a:ext>
              </a:extLst>
            </p:cNvPr>
            <p:cNvSpPr txBox="1">
              <a:spLocks/>
            </p:cNvSpPr>
            <p:nvPr/>
          </p:nvSpPr>
          <p:spPr>
            <a:xfrm>
              <a:off x="2669997" y="1628313"/>
              <a:ext cx="1831130" cy="825867"/>
            </a:xfrm>
            <a:prstGeom prst="rect">
              <a:avLst/>
            </a:prstGeom>
          </p:spPr>
          <p:txBody>
            <a:bodyPr vert="horz" wrap="square" lIns="0" tIns="1270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32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Simulation</a:t>
              </a:r>
            </a:p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20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Individual 47</a:t>
              </a: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F9D3E873-4AEB-4FBE-8F4A-546727C7A7D2}"/>
              </a:ext>
            </a:extLst>
          </p:cNvPr>
          <p:cNvSpPr txBox="1"/>
          <p:nvPr/>
        </p:nvSpPr>
        <p:spPr>
          <a:xfrm>
            <a:off x="475835" y="3999300"/>
            <a:ext cx="14884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···</a:t>
            </a:r>
            <a:endParaRPr lang="zh-CN" altLang="en-US" sz="4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FA2755D-CE23-4BC6-997A-512D0D067AEB}"/>
              </a:ext>
            </a:extLst>
          </p:cNvPr>
          <p:cNvSpPr txBox="1"/>
          <p:nvPr/>
        </p:nvSpPr>
        <p:spPr>
          <a:xfrm>
            <a:off x="6096000" y="3999300"/>
            <a:ext cx="14884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···</a:t>
            </a:r>
            <a:endParaRPr lang="zh-CN" altLang="en-US" sz="4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D12BB681-4C32-446B-8AB1-35DC279FD6DC}"/>
              </a:ext>
            </a:extLst>
          </p:cNvPr>
          <p:cNvSpPr txBox="1"/>
          <p:nvPr/>
        </p:nvSpPr>
        <p:spPr>
          <a:xfrm>
            <a:off x="9738396" y="1231472"/>
            <a:ext cx="14884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···</a:t>
            </a:r>
            <a:endParaRPr lang="zh-CN" altLang="en-US" sz="4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24769790-8DEB-411C-B367-6FA7B692FB26}"/>
              </a:ext>
            </a:extLst>
          </p:cNvPr>
          <p:cNvSpPr txBox="1"/>
          <p:nvPr/>
        </p:nvSpPr>
        <p:spPr>
          <a:xfrm>
            <a:off x="9743428" y="2784360"/>
            <a:ext cx="14884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···</a:t>
            </a:r>
            <a:endParaRPr lang="zh-CN" altLang="en-US" sz="4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D29840CC-B19A-4F0B-B424-B40C914251FC}"/>
              </a:ext>
            </a:extLst>
          </p:cNvPr>
          <p:cNvSpPr txBox="1"/>
          <p:nvPr/>
        </p:nvSpPr>
        <p:spPr>
          <a:xfrm>
            <a:off x="9738395" y="5211029"/>
            <a:ext cx="14884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···</a:t>
            </a:r>
            <a:endParaRPr lang="zh-CN" altLang="en-US" sz="4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object 18">
            <a:extLst>
              <a:ext uri="{FF2B5EF4-FFF2-40B4-BE49-F238E27FC236}">
                <a16:creationId xmlns:a16="http://schemas.microsoft.com/office/drawing/2014/main" id="{B605FABC-6451-48F8-B845-0BC764710A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8687" y="190148"/>
            <a:ext cx="103346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Parallel Simulation/Evaluation</a:t>
            </a:r>
            <a:endParaRPr sz="36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3931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18">
            <a:extLst>
              <a:ext uri="{FF2B5EF4-FFF2-40B4-BE49-F238E27FC236}">
                <a16:creationId xmlns:a16="http://schemas.microsoft.com/office/drawing/2014/main" id="{B1B3FE77-B3CC-8BBF-76CA-8D7491B49D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1298929"/>
            <a:ext cx="11582400" cy="42601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# </a:t>
            </a:r>
            <a:r>
              <a:rPr lang="en-US" sz="2800" b="1" spc="-5" dirty="0" err="1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regist</a:t>
            </a:r>
            <a:br>
              <a:rPr lang="en-US" sz="28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28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executor  =  </a:t>
            </a:r>
            <a:r>
              <a:rPr lang="en-US" sz="2800" b="1" spc="-5" dirty="0" err="1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concurrent.futures.ProcessPoolExecutor</a:t>
            </a:r>
            <a:r>
              <a:rPr lang="en-US" sz="28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( </a:t>
            </a:r>
            <a:r>
              <a:rPr lang="en-US" sz="2800" b="1" spc="-5" dirty="0" err="1">
                <a:solidFill>
                  <a:schemeClr val="accent2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max_workers</a:t>
            </a:r>
            <a:r>
              <a:rPr lang="en-US" sz="2800" b="1" spc="-5" dirty="0">
                <a:solidFill>
                  <a:schemeClr val="accent2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</a:t>
            </a:r>
            <a:r>
              <a:rPr lang="en-US" sz="28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= cores )</a:t>
            </a:r>
            <a:br>
              <a:rPr lang="en-US" sz="28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2800" b="1" spc="-5" dirty="0" err="1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toolbox.register</a:t>
            </a:r>
            <a:r>
              <a:rPr lang="en-US" sz="28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( "multiprocessing",  </a:t>
            </a:r>
            <a:r>
              <a:rPr lang="en-US" sz="2800" b="1" spc="-5" dirty="0" err="1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executor.map</a:t>
            </a:r>
            <a:r>
              <a:rPr lang="en-US" sz="28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) </a:t>
            </a:r>
            <a:b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b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# parallel evaluation</a:t>
            </a:r>
            <a:b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 err="1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invalid_ind</a:t>
            </a: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=  [ </a:t>
            </a:r>
            <a:r>
              <a:rPr lang="en-US" sz="3200" b="1" spc="-5" dirty="0" err="1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ind</a:t>
            </a: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</a:t>
            </a:r>
            <a:r>
              <a:rPr lang="en-US" sz="3200" b="1" spc="-5" dirty="0">
                <a:solidFill>
                  <a:srgbClr val="FFC000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for </a:t>
            </a: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</a:t>
            </a:r>
            <a:r>
              <a:rPr lang="en-US" sz="3200" b="1" spc="-5" dirty="0" err="1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ind</a:t>
            </a: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</a:t>
            </a:r>
            <a:r>
              <a:rPr lang="en-US" sz="3200" b="1" spc="-5" dirty="0">
                <a:solidFill>
                  <a:srgbClr val="FFC000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in</a:t>
            </a: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population ]</a:t>
            </a:r>
            <a:b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 err="1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fitnesses</a:t>
            </a: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=  </a:t>
            </a:r>
            <a:r>
              <a:rPr lang="en-US" sz="3200" b="1" spc="-5" dirty="0" err="1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toolbox.multiprocessing</a:t>
            </a: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( </a:t>
            </a:r>
            <a:r>
              <a:rPr lang="en-US" sz="3200" b="1" spc="-5" dirty="0" err="1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toolbox.evaluate</a:t>
            </a: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, </a:t>
            </a:r>
            <a:r>
              <a:rPr lang="en-US" sz="3200" b="1" spc="-5" dirty="0" err="1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invalid_ind</a:t>
            </a: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)</a:t>
            </a:r>
            <a:b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rgbClr val="FFC000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for</a:t>
            </a: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</a:t>
            </a:r>
            <a:r>
              <a:rPr lang="en-US" sz="3200" b="1" spc="-5" dirty="0" err="1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ind</a:t>
            </a: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, fit  </a:t>
            </a:r>
            <a:r>
              <a:rPr lang="en-US" sz="3200" b="1" spc="-5" dirty="0">
                <a:solidFill>
                  <a:srgbClr val="FFC000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in</a:t>
            </a: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</a:t>
            </a:r>
            <a:r>
              <a:rPr lang="en-US" sz="3200" b="1" spc="-5" dirty="0">
                <a:solidFill>
                  <a:srgbClr val="7030A0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zip</a:t>
            </a: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( </a:t>
            </a:r>
            <a:r>
              <a:rPr lang="en-US" sz="3200" b="1" spc="-5" dirty="0" err="1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invalid_ind</a:t>
            </a: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,  </a:t>
            </a:r>
            <a:r>
              <a:rPr lang="en-US" sz="3200" b="1" spc="-5" dirty="0" err="1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fitnesses</a:t>
            </a: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) :</a:t>
            </a:r>
            <a:b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</a:t>
            </a:r>
            <a:r>
              <a:rPr lang="en-US" sz="3200" b="1" spc="-5" dirty="0" err="1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ind.fitness.values</a:t>
            </a: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=  ( fit, )</a:t>
            </a:r>
            <a:endParaRPr sz="24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9B882B7-8C3B-4F22-A224-6ECF8E442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49309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674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9B882B7-8C3B-4F22-A224-6ECF8E442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49309" cy="600075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6E076F3-07AF-418F-8006-0674381742AE}"/>
              </a:ext>
            </a:extLst>
          </p:cNvPr>
          <p:cNvCxnSpPr>
            <a:cxnSpLocks/>
          </p:cNvCxnSpPr>
          <p:nvPr/>
        </p:nvCxnSpPr>
        <p:spPr>
          <a:xfrm flipV="1">
            <a:off x="1649309" y="1976729"/>
            <a:ext cx="0" cy="3993502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5DF3D945-6574-4992-8732-0176DEC5F261}"/>
              </a:ext>
            </a:extLst>
          </p:cNvPr>
          <p:cNvCxnSpPr>
            <a:cxnSpLocks/>
          </p:cNvCxnSpPr>
          <p:nvPr/>
        </p:nvCxnSpPr>
        <p:spPr>
          <a:xfrm>
            <a:off x="1649309" y="5970231"/>
            <a:ext cx="6938866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5AE1132B-750B-4C7D-A141-16A27D564426}"/>
              </a:ext>
            </a:extLst>
          </p:cNvPr>
          <p:cNvSpPr/>
          <p:nvPr/>
        </p:nvSpPr>
        <p:spPr>
          <a:xfrm>
            <a:off x="1649307" y="2362200"/>
            <a:ext cx="6367757" cy="3625260"/>
          </a:xfrm>
          <a:custGeom>
            <a:avLst/>
            <a:gdLst>
              <a:gd name="connsiteX0" fmla="*/ 0 w 3619500"/>
              <a:gd name="connsiteY0" fmla="*/ 3040297 h 3040297"/>
              <a:gd name="connsiteX1" fmla="*/ 695325 w 3619500"/>
              <a:gd name="connsiteY1" fmla="*/ 1240072 h 3040297"/>
              <a:gd name="connsiteX2" fmla="*/ 1419225 w 3619500"/>
              <a:gd name="connsiteY2" fmla="*/ 344722 h 3040297"/>
              <a:gd name="connsiteX3" fmla="*/ 2486025 w 3619500"/>
              <a:gd name="connsiteY3" fmla="*/ 1822 h 3040297"/>
              <a:gd name="connsiteX4" fmla="*/ 3619500 w 3619500"/>
              <a:gd name="connsiteY4" fmla="*/ 468547 h 3040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19500" h="3040297">
                <a:moveTo>
                  <a:pt x="0" y="3040297"/>
                </a:moveTo>
                <a:cubicBezTo>
                  <a:pt x="229394" y="2364815"/>
                  <a:pt x="458788" y="1689334"/>
                  <a:pt x="695325" y="1240072"/>
                </a:cubicBezTo>
                <a:cubicBezTo>
                  <a:pt x="931862" y="790810"/>
                  <a:pt x="1120775" y="551097"/>
                  <a:pt x="1419225" y="344722"/>
                </a:cubicBezTo>
                <a:cubicBezTo>
                  <a:pt x="1717675" y="138347"/>
                  <a:pt x="2119313" y="-18816"/>
                  <a:pt x="2486025" y="1822"/>
                </a:cubicBezTo>
                <a:cubicBezTo>
                  <a:pt x="2852738" y="22459"/>
                  <a:pt x="3236119" y="245503"/>
                  <a:pt x="3619500" y="468547"/>
                </a:cubicBezTo>
              </a:path>
            </a:pathLst>
          </a:custGeom>
          <a:noFill/>
          <a:ln w="57150">
            <a:gradFill flip="none" rotWithShape="1">
              <a:gsLst>
                <a:gs pos="22000">
                  <a:srgbClr val="A32AD4"/>
                </a:gs>
                <a:gs pos="62000">
                  <a:schemeClr val="accent2"/>
                </a:gs>
                <a:gs pos="100000">
                  <a:srgbClr val="00B050"/>
                </a:gs>
              </a:gsLst>
              <a:lin ang="189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object 18">
            <a:extLst>
              <a:ext uri="{FF2B5EF4-FFF2-40B4-BE49-F238E27FC236}">
                <a16:creationId xmlns:a16="http://schemas.microsoft.com/office/drawing/2014/main" id="{16812D6F-28C3-4570-B15A-BAD5D47348AF}"/>
              </a:ext>
            </a:extLst>
          </p:cNvPr>
          <p:cNvSpPr txBox="1">
            <a:spLocks/>
          </p:cNvSpPr>
          <p:nvPr/>
        </p:nvSpPr>
        <p:spPr>
          <a:xfrm>
            <a:off x="8426639" y="5717597"/>
            <a:ext cx="2295525" cy="50526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CPU Cores</a:t>
            </a: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13405E0C-8C6B-45AE-AEBF-94247F438423}"/>
              </a:ext>
            </a:extLst>
          </p:cNvPr>
          <p:cNvSpPr txBox="1">
            <a:spLocks/>
          </p:cNvSpPr>
          <p:nvPr/>
        </p:nvSpPr>
        <p:spPr>
          <a:xfrm>
            <a:off x="501544" y="1470173"/>
            <a:ext cx="2295525" cy="50526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Efficiency</a:t>
            </a:r>
          </a:p>
        </p:txBody>
      </p:sp>
    </p:spTree>
    <p:extLst>
      <p:ext uri="{BB962C8B-B14F-4D97-AF65-F5344CB8AC3E}">
        <p14:creationId xmlns:p14="http://schemas.microsoft.com/office/powerpoint/2010/main" val="211436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9B882B7-8C3B-4F22-A224-6ECF8E442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49309" cy="600075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6E076F3-07AF-418F-8006-0674381742AE}"/>
              </a:ext>
            </a:extLst>
          </p:cNvPr>
          <p:cNvCxnSpPr>
            <a:cxnSpLocks/>
          </p:cNvCxnSpPr>
          <p:nvPr/>
        </p:nvCxnSpPr>
        <p:spPr>
          <a:xfrm flipV="1">
            <a:off x="1649309" y="1976729"/>
            <a:ext cx="0" cy="3993502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5DF3D945-6574-4992-8732-0176DEC5F261}"/>
              </a:ext>
            </a:extLst>
          </p:cNvPr>
          <p:cNvCxnSpPr>
            <a:cxnSpLocks/>
          </p:cNvCxnSpPr>
          <p:nvPr/>
        </p:nvCxnSpPr>
        <p:spPr>
          <a:xfrm>
            <a:off x="1649309" y="5970231"/>
            <a:ext cx="6938866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5AE1132B-750B-4C7D-A141-16A27D564426}"/>
              </a:ext>
            </a:extLst>
          </p:cNvPr>
          <p:cNvSpPr/>
          <p:nvPr/>
        </p:nvSpPr>
        <p:spPr>
          <a:xfrm>
            <a:off x="1649307" y="2362200"/>
            <a:ext cx="6367757" cy="3625260"/>
          </a:xfrm>
          <a:custGeom>
            <a:avLst/>
            <a:gdLst>
              <a:gd name="connsiteX0" fmla="*/ 0 w 3619500"/>
              <a:gd name="connsiteY0" fmla="*/ 3040297 h 3040297"/>
              <a:gd name="connsiteX1" fmla="*/ 695325 w 3619500"/>
              <a:gd name="connsiteY1" fmla="*/ 1240072 h 3040297"/>
              <a:gd name="connsiteX2" fmla="*/ 1419225 w 3619500"/>
              <a:gd name="connsiteY2" fmla="*/ 344722 h 3040297"/>
              <a:gd name="connsiteX3" fmla="*/ 2486025 w 3619500"/>
              <a:gd name="connsiteY3" fmla="*/ 1822 h 3040297"/>
              <a:gd name="connsiteX4" fmla="*/ 3619500 w 3619500"/>
              <a:gd name="connsiteY4" fmla="*/ 468547 h 3040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19500" h="3040297">
                <a:moveTo>
                  <a:pt x="0" y="3040297"/>
                </a:moveTo>
                <a:cubicBezTo>
                  <a:pt x="229394" y="2364815"/>
                  <a:pt x="458788" y="1689334"/>
                  <a:pt x="695325" y="1240072"/>
                </a:cubicBezTo>
                <a:cubicBezTo>
                  <a:pt x="931862" y="790810"/>
                  <a:pt x="1120775" y="551097"/>
                  <a:pt x="1419225" y="344722"/>
                </a:cubicBezTo>
                <a:cubicBezTo>
                  <a:pt x="1717675" y="138347"/>
                  <a:pt x="2119313" y="-18816"/>
                  <a:pt x="2486025" y="1822"/>
                </a:cubicBezTo>
                <a:cubicBezTo>
                  <a:pt x="2852738" y="22459"/>
                  <a:pt x="3236119" y="245503"/>
                  <a:pt x="3619500" y="468547"/>
                </a:cubicBezTo>
              </a:path>
            </a:pathLst>
          </a:custGeom>
          <a:noFill/>
          <a:ln w="57150">
            <a:gradFill flip="none" rotWithShape="1">
              <a:gsLst>
                <a:gs pos="22000">
                  <a:srgbClr val="A32AD4"/>
                </a:gs>
                <a:gs pos="62000">
                  <a:schemeClr val="accent2"/>
                </a:gs>
                <a:gs pos="100000">
                  <a:srgbClr val="00B050"/>
                </a:gs>
              </a:gsLst>
              <a:lin ang="189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object 18">
            <a:extLst>
              <a:ext uri="{FF2B5EF4-FFF2-40B4-BE49-F238E27FC236}">
                <a16:creationId xmlns:a16="http://schemas.microsoft.com/office/drawing/2014/main" id="{16812D6F-28C3-4570-B15A-BAD5D47348AF}"/>
              </a:ext>
            </a:extLst>
          </p:cNvPr>
          <p:cNvSpPr txBox="1">
            <a:spLocks/>
          </p:cNvSpPr>
          <p:nvPr/>
        </p:nvSpPr>
        <p:spPr>
          <a:xfrm>
            <a:off x="8426639" y="5717597"/>
            <a:ext cx="2295525" cy="50526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CPU Cores</a:t>
            </a: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13405E0C-8C6B-45AE-AEBF-94247F438423}"/>
              </a:ext>
            </a:extLst>
          </p:cNvPr>
          <p:cNvSpPr txBox="1">
            <a:spLocks/>
          </p:cNvSpPr>
          <p:nvPr/>
        </p:nvSpPr>
        <p:spPr>
          <a:xfrm>
            <a:off x="501544" y="1470173"/>
            <a:ext cx="2295525" cy="50526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Efficiency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4955BF0-5F52-4DAF-BA35-9CFE49F9BB16}"/>
              </a:ext>
            </a:extLst>
          </p:cNvPr>
          <p:cNvCxnSpPr>
            <a:cxnSpLocks/>
            <a:stCxn id="16" idx="3"/>
          </p:cNvCxnSpPr>
          <p:nvPr/>
        </p:nvCxnSpPr>
        <p:spPr>
          <a:xfrm flipH="1">
            <a:off x="6016815" y="2364373"/>
            <a:ext cx="6136" cy="3623087"/>
          </a:xfrm>
          <a:prstGeom prst="line">
            <a:avLst/>
          </a:prstGeom>
          <a:ln w="38100">
            <a:solidFill>
              <a:srgbClr val="0070C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D681FAB-0493-4225-9241-9D365BB98FDB}"/>
              </a:ext>
            </a:extLst>
          </p:cNvPr>
          <p:cNvCxnSpPr>
            <a:cxnSpLocks/>
          </p:cNvCxnSpPr>
          <p:nvPr/>
        </p:nvCxnSpPr>
        <p:spPr>
          <a:xfrm flipH="1">
            <a:off x="1646238" y="2364373"/>
            <a:ext cx="4370577" cy="0"/>
          </a:xfrm>
          <a:prstGeom prst="line">
            <a:avLst/>
          </a:prstGeom>
          <a:ln w="38100">
            <a:solidFill>
              <a:srgbClr val="0070C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BBE70501-B13E-46EB-A7A0-1B7770D5D752}"/>
              </a:ext>
            </a:extLst>
          </p:cNvPr>
          <p:cNvSpPr/>
          <p:nvPr/>
        </p:nvSpPr>
        <p:spPr>
          <a:xfrm>
            <a:off x="5834914" y="2180298"/>
            <a:ext cx="363802" cy="363802"/>
          </a:xfrm>
          <a:prstGeom prst="ellipse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21351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9B882B7-8C3B-4F22-A224-6ECF8E442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49309" cy="600075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6E076F3-07AF-418F-8006-0674381742AE}"/>
              </a:ext>
            </a:extLst>
          </p:cNvPr>
          <p:cNvCxnSpPr>
            <a:cxnSpLocks/>
          </p:cNvCxnSpPr>
          <p:nvPr/>
        </p:nvCxnSpPr>
        <p:spPr>
          <a:xfrm flipV="1">
            <a:off x="1649309" y="1976729"/>
            <a:ext cx="0" cy="3993502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5DF3D945-6574-4992-8732-0176DEC5F261}"/>
              </a:ext>
            </a:extLst>
          </p:cNvPr>
          <p:cNvCxnSpPr>
            <a:cxnSpLocks/>
          </p:cNvCxnSpPr>
          <p:nvPr/>
        </p:nvCxnSpPr>
        <p:spPr>
          <a:xfrm>
            <a:off x="1649309" y="5970231"/>
            <a:ext cx="6938866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5AE1132B-750B-4C7D-A141-16A27D564426}"/>
              </a:ext>
            </a:extLst>
          </p:cNvPr>
          <p:cNvSpPr/>
          <p:nvPr/>
        </p:nvSpPr>
        <p:spPr>
          <a:xfrm>
            <a:off x="1649307" y="2362200"/>
            <a:ext cx="6367757" cy="3625260"/>
          </a:xfrm>
          <a:custGeom>
            <a:avLst/>
            <a:gdLst>
              <a:gd name="connsiteX0" fmla="*/ 0 w 3619500"/>
              <a:gd name="connsiteY0" fmla="*/ 3040297 h 3040297"/>
              <a:gd name="connsiteX1" fmla="*/ 695325 w 3619500"/>
              <a:gd name="connsiteY1" fmla="*/ 1240072 h 3040297"/>
              <a:gd name="connsiteX2" fmla="*/ 1419225 w 3619500"/>
              <a:gd name="connsiteY2" fmla="*/ 344722 h 3040297"/>
              <a:gd name="connsiteX3" fmla="*/ 2486025 w 3619500"/>
              <a:gd name="connsiteY3" fmla="*/ 1822 h 3040297"/>
              <a:gd name="connsiteX4" fmla="*/ 3619500 w 3619500"/>
              <a:gd name="connsiteY4" fmla="*/ 468547 h 3040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19500" h="3040297">
                <a:moveTo>
                  <a:pt x="0" y="3040297"/>
                </a:moveTo>
                <a:cubicBezTo>
                  <a:pt x="229394" y="2364815"/>
                  <a:pt x="458788" y="1689334"/>
                  <a:pt x="695325" y="1240072"/>
                </a:cubicBezTo>
                <a:cubicBezTo>
                  <a:pt x="931862" y="790810"/>
                  <a:pt x="1120775" y="551097"/>
                  <a:pt x="1419225" y="344722"/>
                </a:cubicBezTo>
                <a:cubicBezTo>
                  <a:pt x="1717675" y="138347"/>
                  <a:pt x="2119313" y="-18816"/>
                  <a:pt x="2486025" y="1822"/>
                </a:cubicBezTo>
                <a:cubicBezTo>
                  <a:pt x="2852738" y="22459"/>
                  <a:pt x="3236119" y="245503"/>
                  <a:pt x="3619500" y="468547"/>
                </a:cubicBezTo>
              </a:path>
            </a:pathLst>
          </a:custGeom>
          <a:noFill/>
          <a:ln w="57150">
            <a:gradFill flip="none" rotWithShape="1">
              <a:gsLst>
                <a:gs pos="22000">
                  <a:srgbClr val="A32AD4"/>
                </a:gs>
                <a:gs pos="62000">
                  <a:schemeClr val="accent2"/>
                </a:gs>
                <a:gs pos="100000">
                  <a:srgbClr val="00B050"/>
                </a:gs>
              </a:gsLst>
              <a:lin ang="189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object 18">
            <a:extLst>
              <a:ext uri="{FF2B5EF4-FFF2-40B4-BE49-F238E27FC236}">
                <a16:creationId xmlns:a16="http://schemas.microsoft.com/office/drawing/2014/main" id="{16812D6F-28C3-4570-B15A-BAD5D47348AF}"/>
              </a:ext>
            </a:extLst>
          </p:cNvPr>
          <p:cNvSpPr txBox="1">
            <a:spLocks/>
          </p:cNvSpPr>
          <p:nvPr/>
        </p:nvSpPr>
        <p:spPr>
          <a:xfrm>
            <a:off x="8426639" y="5717597"/>
            <a:ext cx="2295525" cy="50526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CPU Cores</a:t>
            </a: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13405E0C-8C6B-45AE-AEBF-94247F438423}"/>
              </a:ext>
            </a:extLst>
          </p:cNvPr>
          <p:cNvSpPr txBox="1">
            <a:spLocks/>
          </p:cNvSpPr>
          <p:nvPr/>
        </p:nvSpPr>
        <p:spPr>
          <a:xfrm>
            <a:off x="501544" y="1470173"/>
            <a:ext cx="2295525" cy="50526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Efficiency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4955BF0-5F52-4DAF-BA35-9CFE49F9BB16}"/>
              </a:ext>
            </a:extLst>
          </p:cNvPr>
          <p:cNvCxnSpPr>
            <a:cxnSpLocks/>
            <a:stCxn id="16" idx="3"/>
          </p:cNvCxnSpPr>
          <p:nvPr/>
        </p:nvCxnSpPr>
        <p:spPr>
          <a:xfrm flipH="1">
            <a:off x="6016815" y="2364373"/>
            <a:ext cx="6136" cy="3623087"/>
          </a:xfrm>
          <a:prstGeom prst="line">
            <a:avLst/>
          </a:prstGeom>
          <a:ln w="38100">
            <a:solidFill>
              <a:srgbClr val="0070C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D681FAB-0493-4225-9241-9D365BB98FDB}"/>
              </a:ext>
            </a:extLst>
          </p:cNvPr>
          <p:cNvCxnSpPr>
            <a:cxnSpLocks/>
          </p:cNvCxnSpPr>
          <p:nvPr/>
        </p:nvCxnSpPr>
        <p:spPr>
          <a:xfrm flipH="1">
            <a:off x="1646238" y="2364373"/>
            <a:ext cx="4370577" cy="0"/>
          </a:xfrm>
          <a:prstGeom prst="line">
            <a:avLst/>
          </a:prstGeom>
          <a:ln w="38100">
            <a:solidFill>
              <a:srgbClr val="0070C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BBE70501-B13E-46EB-A7A0-1B7770D5D752}"/>
              </a:ext>
            </a:extLst>
          </p:cNvPr>
          <p:cNvSpPr/>
          <p:nvPr/>
        </p:nvSpPr>
        <p:spPr>
          <a:xfrm>
            <a:off x="5834914" y="2180298"/>
            <a:ext cx="363802" cy="363802"/>
          </a:xfrm>
          <a:prstGeom prst="ellipse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CAA7D4C4-AE69-4087-B16E-051114B96F19}"/>
              </a:ext>
            </a:extLst>
          </p:cNvPr>
          <p:cNvCxnSpPr>
            <a:cxnSpLocks/>
          </p:cNvCxnSpPr>
          <p:nvPr/>
        </p:nvCxnSpPr>
        <p:spPr>
          <a:xfrm flipH="1" flipV="1">
            <a:off x="4680785" y="1614088"/>
            <a:ext cx="876301" cy="523876"/>
          </a:xfrm>
          <a:prstGeom prst="straightConnector1">
            <a:avLst/>
          </a:prstGeom>
          <a:ln w="57150">
            <a:solidFill>
              <a:srgbClr val="FF33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287339B-7216-4A19-AC53-F9A37E49DDAB}"/>
              </a:ext>
            </a:extLst>
          </p:cNvPr>
          <p:cNvCxnSpPr>
            <a:cxnSpLocks/>
          </p:cNvCxnSpPr>
          <p:nvPr/>
        </p:nvCxnSpPr>
        <p:spPr>
          <a:xfrm flipH="1" flipV="1">
            <a:off x="5971418" y="1113887"/>
            <a:ext cx="1" cy="767675"/>
          </a:xfrm>
          <a:prstGeom prst="straightConnector1">
            <a:avLst/>
          </a:prstGeom>
          <a:ln w="57150">
            <a:solidFill>
              <a:srgbClr val="FF33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286420C-9080-459E-A04D-96124844ECF9}"/>
              </a:ext>
            </a:extLst>
          </p:cNvPr>
          <p:cNvCxnSpPr>
            <a:cxnSpLocks/>
          </p:cNvCxnSpPr>
          <p:nvPr/>
        </p:nvCxnSpPr>
        <p:spPr>
          <a:xfrm flipV="1">
            <a:off x="6385751" y="1536511"/>
            <a:ext cx="938974" cy="601453"/>
          </a:xfrm>
          <a:prstGeom prst="straightConnector1">
            <a:avLst/>
          </a:prstGeom>
          <a:ln w="57150">
            <a:solidFill>
              <a:srgbClr val="FF33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9907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18">
            <a:extLst>
              <a:ext uri="{FF2B5EF4-FFF2-40B4-BE49-F238E27FC236}">
                <a16:creationId xmlns:a16="http://schemas.microsoft.com/office/drawing/2014/main" id="{B1B3FE77-B3CC-8BBF-76CA-8D7491B49D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8687" y="2914759"/>
            <a:ext cx="10334625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66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Go into </a:t>
            </a:r>
            <a:r>
              <a:rPr lang="en-US" sz="6600" b="1" spc="-5" dirty="0">
                <a:solidFill>
                  <a:srgbClr val="FFFF00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Simulation</a:t>
            </a:r>
            <a:endParaRPr sz="6600" b="1" spc="-5" dirty="0">
              <a:solidFill>
                <a:srgbClr val="FFFF00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9B882B7-8C3B-4F22-A224-6ECF8E442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49309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097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18">
            <a:extLst>
              <a:ext uri="{FF2B5EF4-FFF2-40B4-BE49-F238E27FC236}">
                <a16:creationId xmlns:a16="http://schemas.microsoft.com/office/drawing/2014/main" id="{B1B3FE77-B3CC-8BBF-76CA-8D7491B49D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8687" y="2960921"/>
            <a:ext cx="10334625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altLang="zh-CN" sz="60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Loops to Matrix</a:t>
            </a:r>
            <a:endParaRPr sz="60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9B882B7-8C3B-4F22-A224-6ECF8E442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49309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6716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E322A-6AC5-97D9-1949-ABB31535F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D845785-A6EE-03F5-5E48-B72694D90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49309" cy="60007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AC72CCF-5BBD-8314-56A0-E2527EC1BE15}"/>
              </a:ext>
            </a:extLst>
          </p:cNvPr>
          <p:cNvSpPr txBox="1"/>
          <p:nvPr/>
        </p:nvSpPr>
        <p:spPr>
          <a:xfrm>
            <a:off x="1402402" y="300037"/>
            <a:ext cx="93871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(Matrix A × Matrix B</a:t>
            </a:r>
            <a:r>
              <a:rPr lang="en-US" altLang="zh-CN" sz="48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).sum  </a:t>
            </a:r>
            <a:r>
              <a:rPr lang="en-US" altLang="zh-CN" sz="2800" b="1" spc="-5" dirty="0">
                <a:solidFill>
                  <a:srgbClr val="FFFF00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(</a:t>
            </a:r>
            <a:r>
              <a:rPr lang="en-US" altLang="zh-CN" sz="2800" b="1" spc="-5" dirty="0" err="1">
                <a:solidFill>
                  <a:srgbClr val="FFFF00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ms</a:t>
            </a:r>
            <a:r>
              <a:rPr lang="en-US" altLang="zh-CN" sz="2800" b="1" spc="-5" dirty="0">
                <a:solidFill>
                  <a:srgbClr val="FFFF00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)</a:t>
            </a:r>
            <a:endParaRPr lang="zh-CN" altLang="en-US" sz="4800" dirty="0">
              <a:solidFill>
                <a:srgbClr val="FFFF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34806C3-5CCF-840E-6382-9785A58F7960}"/>
              </a:ext>
            </a:extLst>
          </p:cNvPr>
          <p:cNvSpPr txBox="1"/>
          <p:nvPr/>
        </p:nvSpPr>
        <p:spPr>
          <a:xfrm>
            <a:off x="2267623" y="6275034"/>
            <a:ext cx="76567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Intel i7-13700, Python3.8, PyTorch1.7</a:t>
            </a:r>
            <a:endParaRPr lang="zh-CN" altLang="en-US" sz="28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83FA7D8-0B6E-98E0-398D-58C2A2603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563" y="1415727"/>
            <a:ext cx="10346871" cy="457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093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E322A-6AC5-97D9-1949-ABB31535F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D845785-A6EE-03F5-5E48-B72694D90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49309" cy="600075"/>
          </a:xfrm>
          <a:prstGeom prst="rect">
            <a:avLst/>
          </a:prstGeom>
        </p:spPr>
      </p:pic>
      <p:sp>
        <p:nvSpPr>
          <p:cNvPr id="6" name="object 18">
            <a:extLst>
              <a:ext uri="{FF2B5EF4-FFF2-40B4-BE49-F238E27FC236}">
                <a16:creationId xmlns:a16="http://schemas.microsoft.com/office/drawing/2014/main" id="{5A47DBC2-E100-4C3E-8BE7-DFBEAF374A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42861" y="2068371"/>
            <a:ext cx="6906277" cy="27212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for </a:t>
            </a:r>
            <a:r>
              <a:rPr lang="en-US" i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individual</a:t>
            </a:r>
            <a:r>
              <a:rPr lang="en-US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in </a:t>
            </a:r>
            <a:r>
              <a:rPr lang="en-US" i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population</a:t>
            </a:r>
            <a:r>
              <a:rPr lang="en-US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:</a:t>
            </a:r>
            <a:br>
              <a:rPr lang="en-US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</a:t>
            </a:r>
            <a:r>
              <a:rPr lang="en-US" b="1" spc="-5" dirty="0">
                <a:solidFill>
                  <a:srgbClr val="FFFF00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simulation(</a:t>
            </a:r>
            <a:r>
              <a:rPr lang="en-US" i="1" spc="-5" dirty="0">
                <a:solidFill>
                  <a:srgbClr val="FFFF00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individual</a:t>
            </a:r>
            <a:r>
              <a:rPr lang="en-US" b="1" spc="-5" dirty="0">
                <a:solidFill>
                  <a:srgbClr val="FFFF00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);</a:t>
            </a:r>
            <a:br>
              <a:rPr lang="en-US" b="1" spc="-5" dirty="0">
                <a:solidFill>
                  <a:srgbClr val="FFFF00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offspring;</a:t>
            </a:r>
            <a:br>
              <a:rPr lang="en-US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end for</a:t>
            </a:r>
            <a:endParaRPr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57124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E322A-6AC5-97D9-1949-ABB31535F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D845785-A6EE-03F5-5E48-B72694D90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49309" cy="600075"/>
          </a:xfrm>
          <a:prstGeom prst="rect">
            <a:avLst/>
          </a:prstGeom>
        </p:spPr>
      </p:pic>
      <p:sp>
        <p:nvSpPr>
          <p:cNvPr id="6" name="object 18">
            <a:extLst>
              <a:ext uri="{FF2B5EF4-FFF2-40B4-BE49-F238E27FC236}">
                <a16:creationId xmlns:a16="http://schemas.microsoft.com/office/drawing/2014/main" id="{5A47DBC2-E100-4C3E-8BE7-DFBEAF374A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38337" y="467933"/>
            <a:ext cx="8315325" cy="5922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for </a:t>
            </a:r>
            <a:r>
              <a:rPr lang="en-US" sz="3200" i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individual</a:t>
            </a: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in </a:t>
            </a:r>
            <a:r>
              <a:rPr lang="en-US" sz="3200" i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population</a:t>
            </a: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:</a:t>
            </a:r>
            <a:b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#ACO simulation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for </a:t>
            </a:r>
            <a:r>
              <a:rPr lang="en-US" sz="3200" i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ant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in </a:t>
            </a:r>
            <a:r>
              <a:rPr lang="en-US" sz="3200" i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all_ants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: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while </a:t>
            </a:r>
            <a:r>
              <a:rPr lang="en-US" sz="3200" i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unvisited_cities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is not empty: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         for </a:t>
            </a:r>
            <a:r>
              <a:rPr lang="en-US" sz="3200" i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cities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in </a:t>
            </a:r>
            <a:r>
              <a:rPr lang="en-US" sz="3200" i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unvisted_cities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: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               </a:t>
            </a:r>
            <a:r>
              <a:rPr lang="en-US" sz="3200" b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calculate_priority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by </a:t>
            </a:r>
            <a:r>
              <a:rPr lang="en-US" sz="3200" i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individual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;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         end for;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         choose </a:t>
            </a:r>
            <a:r>
              <a:rPr lang="en-US" sz="3200" i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next_city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;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end while;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end for;</a:t>
            </a:r>
            <a:br>
              <a:rPr lang="en-US" sz="3200" b="1" spc="-5" dirty="0">
                <a:solidFill>
                  <a:srgbClr val="FFFF00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offspring;</a:t>
            </a:r>
            <a:b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end for</a:t>
            </a:r>
            <a:endParaRPr sz="32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123160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E322A-6AC5-97D9-1949-ABB31535F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D845785-A6EE-03F5-5E48-B72694D90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49309" cy="600075"/>
          </a:xfrm>
          <a:prstGeom prst="rect">
            <a:avLst/>
          </a:prstGeom>
        </p:spPr>
      </p:pic>
      <p:sp>
        <p:nvSpPr>
          <p:cNvPr id="6" name="object 18">
            <a:extLst>
              <a:ext uri="{FF2B5EF4-FFF2-40B4-BE49-F238E27FC236}">
                <a16:creationId xmlns:a16="http://schemas.microsoft.com/office/drawing/2014/main" id="{5A47DBC2-E100-4C3E-8BE7-DFBEAF374A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38337" y="467933"/>
            <a:ext cx="8315325" cy="5922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for </a:t>
            </a:r>
            <a:r>
              <a:rPr lang="en-US" sz="3200" i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individual</a:t>
            </a: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in </a:t>
            </a:r>
            <a:r>
              <a:rPr lang="en-US" sz="3200" i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population</a:t>
            </a: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:</a:t>
            </a:r>
            <a:b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#ACO simulation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for </a:t>
            </a:r>
            <a:r>
              <a:rPr lang="en-US" sz="3200" i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ant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in </a:t>
            </a:r>
            <a:r>
              <a:rPr lang="en-US" sz="3200" i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all_ants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: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while </a:t>
            </a:r>
            <a:r>
              <a:rPr lang="en-US" sz="3200" i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unvisited_cities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is not empty: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         for </a:t>
            </a:r>
            <a:r>
              <a:rPr lang="en-US" sz="3200" i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cities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in </a:t>
            </a:r>
            <a:r>
              <a:rPr lang="en-US" sz="3200" i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unvisted_cities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: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               </a:t>
            </a:r>
            <a:r>
              <a:rPr lang="en-US" sz="3200" b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calculate_priority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by </a:t>
            </a:r>
            <a:r>
              <a:rPr lang="en-US" sz="3200" i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individual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;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         end for;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         choose </a:t>
            </a:r>
            <a:r>
              <a:rPr lang="en-US" sz="3200" i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next_city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;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end while;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end for;</a:t>
            </a:r>
            <a:br>
              <a:rPr lang="en-US" sz="3200" b="1" spc="-5" dirty="0">
                <a:solidFill>
                  <a:srgbClr val="FFFF00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offspring;</a:t>
            </a:r>
            <a:b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end for</a:t>
            </a:r>
            <a:endParaRPr sz="32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A5BBC5F-BA8B-4ED3-BEFE-9D584185DA24}"/>
              </a:ext>
            </a:extLst>
          </p:cNvPr>
          <p:cNvSpPr/>
          <p:nvPr/>
        </p:nvSpPr>
        <p:spPr>
          <a:xfrm>
            <a:off x="2252314" y="1466850"/>
            <a:ext cx="3757962" cy="552450"/>
          </a:xfrm>
          <a:prstGeom prst="round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rgbClr val="FF0000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3B884D0-1DB9-4665-89A6-AD1A0F899949}"/>
              </a:ext>
            </a:extLst>
          </p:cNvPr>
          <p:cNvSpPr/>
          <p:nvPr/>
        </p:nvSpPr>
        <p:spPr>
          <a:xfrm>
            <a:off x="3064493" y="2019300"/>
            <a:ext cx="6212857" cy="457200"/>
          </a:xfrm>
          <a:prstGeom prst="round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rgbClr val="FF0000"/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E671B50-A2AE-4EB5-8391-234B08030315}"/>
              </a:ext>
            </a:extLst>
          </p:cNvPr>
          <p:cNvSpPr/>
          <p:nvPr/>
        </p:nvSpPr>
        <p:spPr>
          <a:xfrm>
            <a:off x="3947764" y="2476500"/>
            <a:ext cx="4815236" cy="552450"/>
          </a:xfrm>
          <a:prstGeom prst="round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6256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E322A-6AC5-97D9-1949-ABB31535F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8">
            <a:extLst>
              <a:ext uri="{FF2B5EF4-FFF2-40B4-BE49-F238E27FC236}">
                <a16:creationId xmlns:a16="http://schemas.microsoft.com/office/drawing/2014/main" id="{F915D17D-F125-4061-AF26-83C57E67A6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38337" y="581025"/>
            <a:ext cx="8315325" cy="39523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for </a:t>
            </a:r>
            <a:r>
              <a:rPr lang="en-US" sz="3200" i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ant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in </a:t>
            </a:r>
            <a:r>
              <a:rPr lang="en-US" sz="3200" i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all_ants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: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while </a:t>
            </a:r>
            <a:r>
              <a:rPr lang="en-US" sz="3200" i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unvisited_cities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is not empty: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         for </a:t>
            </a:r>
            <a:r>
              <a:rPr lang="en-US" sz="3200" i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cities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in </a:t>
            </a:r>
            <a:r>
              <a:rPr lang="en-US" sz="3200" i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unvisted_cities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: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               </a:t>
            </a:r>
            <a:r>
              <a:rPr lang="en-US" sz="3200" b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calculate_priority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by </a:t>
            </a:r>
            <a:r>
              <a:rPr lang="en-US" sz="3200" i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individual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;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         end for;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choose </a:t>
            </a:r>
            <a:r>
              <a:rPr lang="en-US" sz="3200" i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next_city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;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end while;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end for;</a:t>
            </a:r>
            <a:endParaRPr sz="32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D845785-A6EE-03F5-5E48-B72694D90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49309" cy="60007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41A0200-54D4-47BB-BA83-0FD050A6B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138286"/>
            <a:ext cx="12192000" cy="370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690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9B882B7-8C3B-4F22-A224-6ECF8E442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49309" cy="600075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0B59B0C-4C22-4710-8B5F-245B469C2769}"/>
              </a:ext>
            </a:extLst>
          </p:cNvPr>
          <p:cNvSpPr/>
          <p:nvPr/>
        </p:nvSpPr>
        <p:spPr>
          <a:xfrm>
            <a:off x="2252313" y="941169"/>
            <a:ext cx="9450402" cy="1411606"/>
          </a:xfrm>
          <a:prstGeom prst="round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0BFA83B7-407F-4D3B-B9A2-205089C01586}"/>
              </a:ext>
            </a:extLst>
          </p:cNvPr>
          <p:cNvSpPr txBox="1">
            <a:spLocks/>
          </p:cNvSpPr>
          <p:nvPr/>
        </p:nvSpPr>
        <p:spPr>
          <a:xfrm>
            <a:off x="0" y="1141705"/>
            <a:ext cx="2440154" cy="101053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CPU 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Thread 0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82227E0-07E2-4693-A917-1AD670AE9A89}"/>
              </a:ext>
            </a:extLst>
          </p:cNvPr>
          <p:cNvGrpSpPr/>
          <p:nvPr/>
        </p:nvGrpSpPr>
        <p:grpSpPr>
          <a:xfrm>
            <a:off x="2478658" y="1169744"/>
            <a:ext cx="2213809" cy="954454"/>
            <a:chOff x="2478658" y="1569794"/>
            <a:chExt cx="2213809" cy="954454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E117E3B9-4725-48CD-8121-E447CC391038}"/>
                </a:ext>
              </a:extLst>
            </p:cNvPr>
            <p:cNvSpPr/>
            <p:nvPr/>
          </p:nvSpPr>
          <p:spPr>
            <a:xfrm>
              <a:off x="2478658" y="1569794"/>
              <a:ext cx="2213809" cy="954454"/>
            </a:xfrm>
            <a:prstGeom prst="roundRect">
              <a:avLst/>
            </a:prstGeom>
            <a:noFill/>
            <a:ln w="28575">
              <a:gradFill flip="none" rotWithShape="1">
                <a:gsLst>
                  <a:gs pos="0">
                    <a:srgbClr val="7030A0"/>
                  </a:gs>
                  <a:gs pos="31000">
                    <a:srgbClr val="A32AD4"/>
                  </a:gs>
                  <a:gs pos="100000">
                    <a:srgbClr val="0070C0"/>
                  </a:gs>
                  <a:gs pos="67000">
                    <a:srgbClr val="00B0F0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1" name="object 18">
              <a:extLst>
                <a:ext uri="{FF2B5EF4-FFF2-40B4-BE49-F238E27FC236}">
                  <a16:creationId xmlns:a16="http://schemas.microsoft.com/office/drawing/2014/main" id="{0F1C2F28-F902-48A2-8E87-74FF2B5AEF71}"/>
                </a:ext>
              </a:extLst>
            </p:cNvPr>
            <p:cNvSpPr txBox="1">
              <a:spLocks/>
            </p:cNvSpPr>
            <p:nvPr/>
          </p:nvSpPr>
          <p:spPr>
            <a:xfrm>
              <a:off x="2669997" y="1628313"/>
              <a:ext cx="1831130" cy="825867"/>
            </a:xfrm>
            <a:prstGeom prst="rect">
              <a:avLst/>
            </a:prstGeom>
          </p:spPr>
          <p:txBody>
            <a:bodyPr vert="horz" wrap="square" lIns="0" tIns="1270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32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Simulation</a:t>
              </a:r>
            </a:p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20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Individual 0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08DE600C-8F14-4539-A8F4-3330BA33CA3A}"/>
              </a:ext>
            </a:extLst>
          </p:cNvPr>
          <p:cNvGrpSpPr/>
          <p:nvPr/>
        </p:nvGrpSpPr>
        <p:grpSpPr>
          <a:xfrm>
            <a:off x="4763705" y="1169744"/>
            <a:ext cx="2213809" cy="954454"/>
            <a:chOff x="2478658" y="1569794"/>
            <a:chExt cx="2213809" cy="954454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7C4301E-A7F1-4D60-A334-B4D30C99E8F3}"/>
                </a:ext>
              </a:extLst>
            </p:cNvPr>
            <p:cNvSpPr/>
            <p:nvPr/>
          </p:nvSpPr>
          <p:spPr>
            <a:xfrm>
              <a:off x="2478658" y="1569794"/>
              <a:ext cx="2213809" cy="954454"/>
            </a:xfrm>
            <a:prstGeom prst="roundRect">
              <a:avLst/>
            </a:prstGeom>
            <a:noFill/>
            <a:ln w="28575">
              <a:gradFill flip="none" rotWithShape="1">
                <a:gsLst>
                  <a:gs pos="0">
                    <a:srgbClr val="7030A0"/>
                  </a:gs>
                  <a:gs pos="31000">
                    <a:srgbClr val="A32AD4"/>
                  </a:gs>
                  <a:gs pos="100000">
                    <a:srgbClr val="0070C0"/>
                  </a:gs>
                  <a:gs pos="67000">
                    <a:srgbClr val="00B0F0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" name="object 18">
              <a:extLst>
                <a:ext uri="{FF2B5EF4-FFF2-40B4-BE49-F238E27FC236}">
                  <a16:creationId xmlns:a16="http://schemas.microsoft.com/office/drawing/2014/main" id="{E9A7E3F8-2FD9-4C25-B49D-E834210CC300}"/>
                </a:ext>
              </a:extLst>
            </p:cNvPr>
            <p:cNvSpPr txBox="1">
              <a:spLocks/>
            </p:cNvSpPr>
            <p:nvPr/>
          </p:nvSpPr>
          <p:spPr>
            <a:xfrm>
              <a:off x="2669997" y="1628313"/>
              <a:ext cx="1831130" cy="825867"/>
            </a:xfrm>
            <a:prstGeom prst="rect">
              <a:avLst/>
            </a:prstGeom>
          </p:spPr>
          <p:txBody>
            <a:bodyPr vert="horz" wrap="square" lIns="0" tIns="1270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32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Simulation</a:t>
              </a:r>
            </a:p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20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Individual 16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4E6A3F7B-AC32-415B-8AFA-45EAB7453705}"/>
              </a:ext>
            </a:extLst>
          </p:cNvPr>
          <p:cNvGrpSpPr/>
          <p:nvPr/>
        </p:nvGrpSpPr>
        <p:grpSpPr>
          <a:xfrm>
            <a:off x="7048752" y="1163969"/>
            <a:ext cx="2213809" cy="954454"/>
            <a:chOff x="2478658" y="1569794"/>
            <a:chExt cx="2213809" cy="954454"/>
          </a:xfrm>
        </p:grpSpPr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6D31D3ED-C7B3-42BD-8CB5-268476E16D06}"/>
                </a:ext>
              </a:extLst>
            </p:cNvPr>
            <p:cNvSpPr/>
            <p:nvPr/>
          </p:nvSpPr>
          <p:spPr>
            <a:xfrm>
              <a:off x="2478658" y="1569794"/>
              <a:ext cx="2213809" cy="954454"/>
            </a:xfrm>
            <a:prstGeom prst="roundRect">
              <a:avLst/>
            </a:prstGeom>
            <a:noFill/>
            <a:ln w="28575">
              <a:gradFill flip="none" rotWithShape="1">
                <a:gsLst>
                  <a:gs pos="0">
                    <a:srgbClr val="7030A0"/>
                  </a:gs>
                  <a:gs pos="31000">
                    <a:srgbClr val="A32AD4"/>
                  </a:gs>
                  <a:gs pos="100000">
                    <a:srgbClr val="0070C0"/>
                  </a:gs>
                  <a:gs pos="67000">
                    <a:srgbClr val="00B0F0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" name="object 18">
              <a:extLst>
                <a:ext uri="{FF2B5EF4-FFF2-40B4-BE49-F238E27FC236}">
                  <a16:creationId xmlns:a16="http://schemas.microsoft.com/office/drawing/2014/main" id="{124C02F9-6ED2-4968-86B5-710E558EF9AB}"/>
                </a:ext>
              </a:extLst>
            </p:cNvPr>
            <p:cNvSpPr txBox="1">
              <a:spLocks/>
            </p:cNvSpPr>
            <p:nvPr/>
          </p:nvSpPr>
          <p:spPr>
            <a:xfrm>
              <a:off x="2669997" y="1628313"/>
              <a:ext cx="1831130" cy="825867"/>
            </a:xfrm>
            <a:prstGeom prst="rect">
              <a:avLst/>
            </a:prstGeom>
          </p:spPr>
          <p:txBody>
            <a:bodyPr vert="horz" wrap="square" lIns="0" tIns="1270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32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Simulation</a:t>
              </a:r>
            </a:p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20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Individual 32</a:t>
              </a:r>
            </a:p>
          </p:txBody>
        </p:sp>
      </p:grp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6D13E9CC-824D-4A85-9254-34DFFE51C00F}"/>
              </a:ext>
            </a:extLst>
          </p:cNvPr>
          <p:cNvSpPr/>
          <p:nvPr/>
        </p:nvSpPr>
        <p:spPr>
          <a:xfrm>
            <a:off x="2252313" y="2494057"/>
            <a:ext cx="9450402" cy="1411606"/>
          </a:xfrm>
          <a:prstGeom prst="round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3" name="object 18">
            <a:extLst>
              <a:ext uri="{FF2B5EF4-FFF2-40B4-BE49-F238E27FC236}">
                <a16:creationId xmlns:a16="http://schemas.microsoft.com/office/drawing/2014/main" id="{82C9F747-DC6A-4D5B-B336-AE9B7F5A32F4}"/>
              </a:ext>
            </a:extLst>
          </p:cNvPr>
          <p:cNvSpPr txBox="1">
            <a:spLocks/>
          </p:cNvSpPr>
          <p:nvPr/>
        </p:nvSpPr>
        <p:spPr>
          <a:xfrm>
            <a:off x="0" y="2694593"/>
            <a:ext cx="2440154" cy="101053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CPU 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Thread 1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B0C0A69-F4C4-4138-B400-F982596B6ACE}"/>
              </a:ext>
            </a:extLst>
          </p:cNvPr>
          <p:cNvGrpSpPr/>
          <p:nvPr/>
        </p:nvGrpSpPr>
        <p:grpSpPr>
          <a:xfrm>
            <a:off x="2478658" y="2722632"/>
            <a:ext cx="2213809" cy="954454"/>
            <a:chOff x="2478658" y="1569794"/>
            <a:chExt cx="2213809" cy="954454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37AD61B5-327A-4B09-A617-FD125544066C}"/>
                </a:ext>
              </a:extLst>
            </p:cNvPr>
            <p:cNvSpPr/>
            <p:nvPr/>
          </p:nvSpPr>
          <p:spPr>
            <a:xfrm>
              <a:off x="2478658" y="1569794"/>
              <a:ext cx="2213809" cy="954454"/>
            </a:xfrm>
            <a:prstGeom prst="roundRect">
              <a:avLst/>
            </a:prstGeom>
            <a:noFill/>
            <a:ln w="28575">
              <a:gradFill flip="none" rotWithShape="1">
                <a:gsLst>
                  <a:gs pos="0">
                    <a:srgbClr val="7030A0"/>
                  </a:gs>
                  <a:gs pos="31000">
                    <a:srgbClr val="A32AD4"/>
                  </a:gs>
                  <a:gs pos="100000">
                    <a:srgbClr val="0070C0"/>
                  </a:gs>
                  <a:gs pos="67000">
                    <a:srgbClr val="00B0F0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6" name="object 18">
              <a:extLst>
                <a:ext uri="{FF2B5EF4-FFF2-40B4-BE49-F238E27FC236}">
                  <a16:creationId xmlns:a16="http://schemas.microsoft.com/office/drawing/2014/main" id="{2F355129-04DC-46B5-94EC-3F3EB8A849C7}"/>
                </a:ext>
              </a:extLst>
            </p:cNvPr>
            <p:cNvSpPr txBox="1">
              <a:spLocks/>
            </p:cNvSpPr>
            <p:nvPr/>
          </p:nvSpPr>
          <p:spPr>
            <a:xfrm>
              <a:off x="2669997" y="1628313"/>
              <a:ext cx="1831130" cy="825867"/>
            </a:xfrm>
            <a:prstGeom prst="rect">
              <a:avLst/>
            </a:prstGeom>
          </p:spPr>
          <p:txBody>
            <a:bodyPr vert="horz" wrap="square" lIns="0" tIns="1270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32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Simulation</a:t>
              </a:r>
            </a:p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20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Individual 1</a:t>
              </a: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6BE69B56-7383-47AB-A43F-A452894E9354}"/>
              </a:ext>
            </a:extLst>
          </p:cNvPr>
          <p:cNvGrpSpPr/>
          <p:nvPr/>
        </p:nvGrpSpPr>
        <p:grpSpPr>
          <a:xfrm>
            <a:off x="4763705" y="2722632"/>
            <a:ext cx="2213809" cy="954454"/>
            <a:chOff x="2478658" y="1569794"/>
            <a:chExt cx="2213809" cy="954454"/>
          </a:xfrm>
        </p:grpSpPr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BFA636BC-A2A6-4BAA-9D67-BB7791F935D9}"/>
                </a:ext>
              </a:extLst>
            </p:cNvPr>
            <p:cNvSpPr/>
            <p:nvPr/>
          </p:nvSpPr>
          <p:spPr>
            <a:xfrm>
              <a:off x="2478658" y="1569794"/>
              <a:ext cx="2213809" cy="954454"/>
            </a:xfrm>
            <a:prstGeom prst="roundRect">
              <a:avLst/>
            </a:prstGeom>
            <a:noFill/>
            <a:ln w="28575">
              <a:gradFill flip="none" rotWithShape="1">
                <a:gsLst>
                  <a:gs pos="0">
                    <a:srgbClr val="7030A0"/>
                  </a:gs>
                  <a:gs pos="31000">
                    <a:srgbClr val="A32AD4"/>
                  </a:gs>
                  <a:gs pos="100000">
                    <a:srgbClr val="0070C0"/>
                  </a:gs>
                  <a:gs pos="67000">
                    <a:srgbClr val="00B0F0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9" name="object 18">
              <a:extLst>
                <a:ext uri="{FF2B5EF4-FFF2-40B4-BE49-F238E27FC236}">
                  <a16:creationId xmlns:a16="http://schemas.microsoft.com/office/drawing/2014/main" id="{4C0ABAFE-F0B5-47DC-8065-2ED25875698F}"/>
                </a:ext>
              </a:extLst>
            </p:cNvPr>
            <p:cNvSpPr txBox="1">
              <a:spLocks/>
            </p:cNvSpPr>
            <p:nvPr/>
          </p:nvSpPr>
          <p:spPr>
            <a:xfrm>
              <a:off x="2669997" y="1628313"/>
              <a:ext cx="1831130" cy="825867"/>
            </a:xfrm>
            <a:prstGeom prst="rect">
              <a:avLst/>
            </a:prstGeom>
          </p:spPr>
          <p:txBody>
            <a:bodyPr vert="horz" wrap="square" lIns="0" tIns="1270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32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Simulation</a:t>
              </a:r>
            </a:p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20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Individual 17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7A41F579-DF74-4EAC-AE6B-171E98F9E9C4}"/>
              </a:ext>
            </a:extLst>
          </p:cNvPr>
          <p:cNvGrpSpPr/>
          <p:nvPr/>
        </p:nvGrpSpPr>
        <p:grpSpPr>
          <a:xfrm>
            <a:off x="7048752" y="2716857"/>
            <a:ext cx="2213809" cy="954454"/>
            <a:chOff x="2478658" y="1569794"/>
            <a:chExt cx="2213809" cy="954454"/>
          </a:xfrm>
        </p:grpSpPr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FA7D163E-9341-469F-8691-137706F6D670}"/>
                </a:ext>
              </a:extLst>
            </p:cNvPr>
            <p:cNvSpPr/>
            <p:nvPr/>
          </p:nvSpPr>
          <p:spPr>
            <a:xfrm>
              <a:off x="2478658" y="1569794"/>
              <a:ext cx="2213809" cy="954454"/>
            </a:xfrm>
            <a:prstGeom prst="roundRect">
              <a:avLst/>
            </a:prstGeom>
            <a:noFill/>
            <a:ln w="28575">
              <a:gradFill flip="none" rotWithShape="1">
                <a:gsLst>
                  <a:gs pos="0">
                    <a:srgbClr val="7030A0"/>
                  </a:gs>
                  <a:gs pos="31000">
                    <a:srgbClr val="A32AD4"/>
                  </a:gs>
                  <a:gs pos="100000">
                    <a:srgbClr val="0070C0"/>
                  </a:gs>
                  <a:gs pos="67000">
                    <a:srgbClr val="00B0F0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2" name="object 18">
              <a:extLst>
                <a:ext uri="{FF2B5EF4-FFF2-40B4-BE49-F238E27FC236}">
                  <a16:creationId xmlns:a16="http://schemas.microsoft.com/office/drawing/2014/main" id="{750AC2B2-3BDD-436A-B690-A53F911044E1}"/>
                </a:ext>
              </a:extLst>
            </p:cNvPr>
            <p:cNvSpPr txBox="1">
              <a:spLocks/>
            </p:cNvSpPr>
            <p:nvPr/>
          </p:nvSpPr>
          <p:spPr>
            <a:xfrm>
              <a:off x="2669997" y="1628313"/>
              <a:ext cx="1831130" cy="825867"/>
            </a:xfrm>
            <a:prstGeom prst="rect">
              <a:avLst/>
            </a:prstGeom>
          </p:spPr>
          <p:txBody>
            <a:bodyPr vert="horz" wrap="square" lIns="0" tIns="1270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32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Simulation</a:t>
              </a:r>
            </a:p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20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Individual 33</a:t>
              </a:r>
            </a:p>
          </p:txBody>
        </p:sp>
      </p:grp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E43EFF2C-6920-4AAE-99C0-0EF426F48CE4}"/>
              </a:ext>
            </a:extLst>
          </p:cNvPr>
          <p:cNvSpPr/>
          <p:nvPr/>
        </p:nvSpPr>
        <p:spPr>
          <a:xfrm>
            <a:off x="2252313" y="4923934"/>
            <a:ext cx="9450402" cy="1411606"/>
          </a:xfrm>
          <a:prstGeom prst="round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6" name="object 18">
            <a:extLst>
              <a:ext uri="{FF2B5EF4-FFF2-40B4-BE49-F238E27FC236}">
                <a16:creationId xmlns:a16="http://schemas.microsoft.com/office/drawing/2014/main" id="{FCE92907-4DD4-44B9-8858-A2CEC94F36B5}"/>
              </a:ext>
            </a:extLst>
          </p:cNvPr>
          <p:cNvSpPr txBox="1">
            <a:spLocks/>
          </p:cNvSpPr>
          <p:nvPr/>
        </p:nvSpPr>
        <p:spPr>
          <a:xfrm>
            <a:off x="0" y="5124470"/>
            <a:ext cx="2440154" cy="101053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CPU 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Thread 15</a:t>
            </a: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CF660AAE-15E6-4BB1-80A2-9F86E160B44B}"/>
              </a:ext>
            </a:extLst>
          </p:cNvPr>
          <p:cNvGrpSpPr/>
          <p:nvPr/>
        </p:nvGrpSpPr>
        <p:grpSpPr>
          <a:xfrm>
            <a:off x="2478658" y="5152509"/>
            <a:ext cx="2213809" cy="954454"/>
            <a:chOff x="2478658" y="1569794"/>
            <a:chExt cx="2213809" cy="954454"/>
          </a:xfrm>
        </p:grpSpPr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2CA55D0E-943F-4C97-82DA-444A8BAFBBFD}"/>
                </a:ext>
              </a:extLst>
            </p:cNvPr>
            <p:cNvSpPr/>
            <p:nvPr/>
          </p:nvSpPr>
          <p:spPr>
            <a:xfrm>
              <a:off x="2478658" y="1569794"/>
              <a:ext cx="2213809" cy="954454"/>
            </a:xfrm>
            <a:prstGeom prst="roundRect">
              <a:avLst/>
            </a:prstGeom>
            <a:noFill/>
            <a:ln w="28575">
              <a:gradFill flip="none" rotWithShape="1">
                <a:gsLst>
                  <a:gs pos="0">
                    <a:srgbClr val="7030A0"/>
                  </a:gs>
                  <a:gs pos="31000">
                    <a:srgbClr val="A32AD4"/>
                  </a:gs>
                  <a:gs pos="100000">
                    <a:srgbClr val="0070C0"/>
                  </a:gs>
                  <a:gs pos="67000">
                    <a:srgbClr val="00B0F0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9" name="object 18">
              <a:extLst>
                <a:ext uri="{FF2B5EF4-FFF2-40B4-BE49-F238E27FC236}">
                  <a16:creationId xmlns:a16="http://schemas.microsoft.com/office/drawing/2014/main" id="{B3ED3FBB-06B0-4362-9624-11DC5BB30A01}"/>
                </a:ext>
              </a:extLst>
            </p:cNvPr>
            <p:cNvSpPr txBox="1">
              <a:spLocks/>
            </p:cNvSpPr>
            <p:nvPr/>
          </p:nvSpPr>
          <p:spPr>
            <a:xfrm>
              <a:off x="2669997" y="1628313"/>
              <a:ext cx="1831130" cy="825867"/>
            </a:xfrm>
            <a:prstGeom prst="rect">
              <a:avLst/>
            </a:prstGeom>
          </p:spPr>
          <p:txBody>
            <a:bodyPr vert="horz" wrap="square" lIns="0" tIns="1270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32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Simulation</a:t>
              </a:r>
            </a:p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20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Individual 15</a:t>
              </a: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C04801E0-C654-4445-99B6-FF4603F45E21}"/>
              </a:ext>
            </a:extLst>
          </p:cNvPr>
          <p:cNvGrpSpPr/>
          <p:nvPr/>
        </p:nvGrpSpPr>
        <p:grpSpPr>
          <a:xfrm>
            <a:off x="4763705" y="5152509"/>
            <a:ext cx="2213809" cy="954454"/>
            <a:chOff x="2478658" y="1569794"/>
            <a:chExt cx="2213809" cy="954454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79189E4B-63D1-40B6-B065-6BB3175F5A91}"/>
                </a:ext>
              </a:extLst>
            </p:cNvPr>
            <p:cNvSpPr/>
            <p:nvPr/>
          </p:nvSpPr>
          <p:spPr>
            <a:xfrm>
              <a:off x="2478658" y="1569794"/>
              <a:ext cx="2213809" cy="954454"/>
            </a:xfrm>
            <a:prstGeom prst="roundRect">
              <a:avLst/>
            </a:prstGeom>
            <a:noFill/>
            <a:ln w="28575">
              <a:gradFill flip="none" rotWithShape="1">
                <a:gsLst>
                  <a:gs pos="0">
                    <a:srgbClr val="7030A0"/>
                  </a:gs>
                  <a:gs pos="31000">
                    <a:srgbClr val="A32AD4"/>
                  </a:gs>
                  <a:gs pos="100000">
                    <a:srgbClr val="0070C0"/>
                  </a:gs>
                  <a:gs pos="67000">
                    <a:srgbClr val="00B0F0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2" name="object 18">
              <a:extLst>
                <a:ext uri="{FF2B5EF4-FFF2-40B4-BE49-F238E27FC236}">
                  <a16:creationId xmlns:a16="http://schemas.microsoft.com/office/drawing/2014/main" id="{57EC4FA8-5987-47EA-9492-72287D12C192}"/>
                </a:ext>
              </a:extLst>
            </p:cNvPr>
            <p:cNvSpPr txBox="1">
              <a:spLocks/>
            </p:cNvSpPr>
            <p:nvPr/>
          </p:nvSpPr>
          <p:spPr>
            <a:xfrm>
              <a:off x="2669997" y="1628313"/>
              <a:ext cx="1831130" cy="825867"/>
            </a:xfrm>
            <a:prstGeom prst="rect">
              <a:avLst/>
            </a:prstGeom>
          </p:spPr>
          <p:txBody>
            <a:bodyPr vert="horz" wrap="square" lIns="0" tIns="1270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32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Simulation</a:t>
              </a:r>
            </a:p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20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Individual 31</a:t>
              </a: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A2402C19-4639-45DC-9CF6-2E496E011439}"/>
              </a:ext>
            </a:extLst>
          </p:cNvPr>
          <p:cNvGrpSpPr/>
          <p:nvPr/>
        </p:nvGrpSpPr>
        <p:grpSpPr>
          <a:xfrm>
            <a:off x="7048752" y="5146734"/>
            <a:ext cx="2213809" cy="954454"/>
            <a:chOff x="2478658" y="1569794"/>
            <a:chExt cx="2213809" cy="954454"/>
          </a:xfrm>
        </p:grpSpPr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708B28CC-9464-4750-BA73-24E686E8437C}"/>
                </a:ext>
              </a:extLst>
            </p:cNvPr>
            <p:cNvSpPr/>
            <p:nvPr/>
          </p:nvSpPr>
          <p:spPr>
            <a:xfrm>
              <a:off x="2478658" y="1569794"/>
              <a:ext cx="2213809" cy="954454"/>
            </a:xfrm>
            <a:prstGeom prst="roundRect">
              <a:avLst/>
            </a:prstGeom>
            <a:noFill/>
            <a:ln w="28575">
              <a:gradFill flip="none" rotWithShape="1">
                <a:gsLst>
                  <a:gs pos="0">
                    <a:srgbClr val="7030A0"/>
                  </a:gs>
                  <a:gs pos="31000">
                    <a:srgbClr val="A32AD4"/>
                  </a:gs>
                  <a:gs pos="100000">
                    <a:srgbClr val="0070C0"/>
                  </a:gs>
                  <a:gs pos="67000">
                    <a:srgbClr val="00B0F0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5" name="object 18">
              <a:extLst>
                <a:ext uri="{FF2B5EF4-FFF2-40B4-BE49-F238E27FC236}">
                  <a16:creationId xmlns:a16="http://schemas.microsoft.com/office/drawing/2014/main" id="{16E7634E-BCBE-414E-8466-E637D9F9105C}"/>
                </a:ext>
              </a:extLst>
            </p:cNvPr>
            <p:cNvSpPr txBox="1">
              <a:spLocks/>
            </p:cNvSpPr>
            <p:nvPr/>
          </p:nvSpPr>
          <p:spPr>
            <a:xfrm>
              <a:off x="2669997" y="1628313"/>
              <a:ext cx="1831130" cy="825867"/>
            </a:xfrm>
            <a:prstGeom prst="rect">
              <a:avLst/>
            </a:prstGeom>
          </p:spPr>
          <p:txBody>
            <a:bodyPr vert="horz" wrap="square" lIns="0" tIns="1270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32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Simulation</a:t>
              </a:r>
            </a:p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20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Individual 47</a:t>
              </a: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F9D3E873-4AEB-4FBE-8F4A-546727C7A7D2}"/>
              </a:ext>
            </a:extLst>
          </p:cNvPr>
          <p:cNvSpPr txBox="1"/>
          <p:nvPr/>
        </p:nvSpPr>
        <p:spPr>
          <a:xfrm>
            <a:off x="475835" y="3999300"/>
            <a:ext cx="14884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···</a:t>
            </a:r>
            <a:endParaRPr lang="zh-CN" altLang="en-US" sz="4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FA2755D-CE23-4BC6-997A-512D0D067AEB}"/>
              </a:ext>
            </a:extLst>
          </p:cNvPr>
          <p:cNvSpPr txBox="1"/>
          <p:nvPr/>
        </p:nvSpPr>
        <p:spPr>
          <a:xfrm>
            <a:off x="6096000" y="3999300"/>
            <a:ext cx="14884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···</a:t>
            </a:r>
            <a:endParaRPr lang="zh-CN" altLang="en-US" sz="4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D12BB681-4C32-446B-8AB1-35DC279FD6DC}"/>
              </a:ext>
            </a:extLst>
          </p:cNvPr>
          <p:cNvSpPr txBox="1"/>
          <p:nvPr/>
        </p:nvSpPr>
        <p:spPr>
          <a:xfrm>
            <a:off x="9738396" y="1231472"/>
            <a:ext cx="14884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···</a:t>
            </a:r>
            <a:endParaRPr lang="zh-CN" altLang="en-US" sz="4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24769790-8DEB-411C-B367-6FA7B692FB26}"/>
              </a:ext>
            </a:extLst>
          </p:cNvPr>
          <p:cNvSpPr txBox="1"/>
          <p:nvPr/>
        </p:nvSpPr>
        <p:spPr>
          <a:xfrm>
            <a:off x="9743428" y="2784360"/>
            <a:ext cx="14884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···</a:t>
            </a:r>
            <a:endParaRPr lang="zh-CN" altLang="en-US" sz="4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D29840CC-B19A-4F0B-B424-B40C914251FC}"/>
              </a:ext>
            </a:extLst>
          </p:cNvPr>
          <p:cNvSpPr txBox="1"/>
          <p:nvPr/>
        </p:nvSpPr>
        <p:spPr>
          <a:xfrm>
            <a:off x="9738395" y="5211029"/>
            <a:ext cx="14884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···</a:t>
            </a:r>
            <a:endParaRPr lang="zh-CN" altLang="en-US" sz="4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object 18">
            <a:extLst>
              <a:ext uri="{FF2B5EF4-FFF2-40B4-BE49-F238E27FC236}">
                <a16:creationId xmlns:a16="http://schemas.microsoft.com/office/drawing/2014/main" id="{B605FABC-6451-48F8-B845-0BC764710A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8687" y="190148"/>
            <a:ext cx="103346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Parallel Simulation/Evaluation</a:t>
            </a:r>
            <a:endParaRPr sz="36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05567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9B882B7-8C3B-4F22-A224-6ECF8E442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49309" cy="6000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355DF8B-7C5C-4B9D-91B2-014C636EF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2803"/>
            <a:ext cx="12192000" cy="6672393"/>
          </a:xfrm>
          <a:prstGeom prst="rect">
            <a:avLst/>
          </a:prstGeom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5062B48F-E1A4-4FC2-94CD-2F31822D3758}"/>
              </a:ext>
            </a:extLst>
          </p:cNvPr>
          <p:cNvSpPr txBox="1"/>
          <p:nvPr/>
        </p:nvSpPr>
        <p:spPr>
          <a:xfrm>
            <a:off x="475835" y="3999300"/>
            <a:ext cx="14884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···</a:t>
            </a:r>
            <a:endParaRPr lang="zh-CN" altLang="en-US" sz="4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BB37CC1-A3C8-41FF-8F1D-0ECF0D081DB6}"/>
              </a:ext>
            </a:extLst>
          </p:cNvPr>
          <p:cNvSpPr txBox="1"/>
          <p:nvPr/>
        </p:nvSpPr>
        <p:spPr>
          <a:xfrm>
            <a:off x="5351758" y="3999299"/>
            <a:ext cx="14884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···</a:t>
            </a:r>
            <a:endParaRPr lang="zh-CN" altLang="en-US" sz="4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1070DA80-7B82-4F9F-8AE6-35DC2C7D766C}"/>
              </a:ext>
            </a:extLst>
          </p:cNvPr>
          <p:cNvSpPr txBox="1"/>
          <p:nvPr/>
        </p:nvSpPr>
        <p:spPr>
          <a:xfrm>
            <a:off x="10227681" y="3999298"/>
            <a:ext cx="14884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···</a:t>
            </a:r>
            <a:endParaRPr lang="zh-CN" altLang="en-US" sz="4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633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E322A-6AC5-97D9-1949-ABB31535F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D845785-A6EE-03F5-5E48-B72694D90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49309" cy="600075"/>
          </a:xfrm>
          <a:prstGeom prst="rect">
            <a:avLst/>
          </a:prstGeom>
        </p:spPr>
      </p:pic>
      <p:sp>
        <p:nvSpPr>
          <p:cNvPr id="17" name="object 18">
            <a:extLst>
              <a:ext uri="{FF2B5EF4-FFF2-40B4-BE49-F238E27FC236}">
                <a16:creationId xmlns:a16="http://schemas.microsoft.com/office/drawing/2014/main" id="{F915D17D-F125-4061-AF26-83C57E67A6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38337" y="581025"/>
            <a:ext cx="8315325" cy="39523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for </a:t>
            </a:r>
            <a:r>
              <a:rPr lang="en-US" sz="3200" i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ant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in </a:t>
            </a:r>
            <a:r>
              <a:rPr lang="en-US" sz="3200" i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all_ants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: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while </a:t>
            </a:r>
            <a:r>
              <a:rPr lang="en-US" sz="3200" i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unvisited_cities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is not empty: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         for </a:t>
            </a:r>
            <a:r>
              <a:rPr lang="en-US" sz="3200" i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cities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in </a:t>
            </a:r>
            <a:r>
              <a:rPr lang="en-US" sz="3200" i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unvisted_cities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: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               </a:t>
            </a:r>
            <a:r>
              <a:rPr lang="en-US" sz="3200" b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calculate_priority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by </a:t>
            </a:r>
            <a:r>
              <a:rPr lang="en-US" sz="3200" i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individual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;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               choose </a:t>
            </a:r>
            <a:r>
              <a:rPr lang="en-US" sz="3200" i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next_city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;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         end for;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end while;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end for;</a:t>
            </a:r>
            <a:endParaRPr sz="32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41A0200-54D4-47BB-BA83-0FD050A6B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138286"/>
            <a:ext cx="12192000" cy="3705378"/>
          </a:xfrm>
          <a:prstGeom prst="rect">
            <a:avLst/>
          </a:prstGeom>
        </p:spPr>
      </p:pic>
      <p:sp>
        <p:nvSpPr>
          <p:cNvPr id="6" name="object 18">
            <a:extLst>
              <a:ext uri="{FF2B5EF4-FFF2-40B4-BE49-F238E27FC236}">
                <a16:creationId xmlns:a16="http://schemas.microsoft.com/office/drawing/2014/main" id="{0FFCE3FA-2639-4F60-9E0C-80FA99D24439}"/>
              </a:ext>
            </a:extLst>
          </p:cNvPr>
          <p:cNvSpPr txBox="1">
            <a:spLocks/>
          </p:cNvSpPr>
          <p:nvPr/>
        </p:nvSpPr>
        <p:spPr>
          <a:xfrm>
            <a:off x="0" y="152462"/>
            <a:ext cx="12192000" cy="6553076"/>
          </a:xfrm>
          <a:prstGeom prst="rect">
            <a:avLst/>
          </a:prstGeom>
          <a:solidFill>
            <a:schemeClr val="tx1">
              <a:alpha val="81000"/>
            </a:schemeClr>
          </a:solidFill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zh-CN" sz="60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zh-CN" sz="60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zh-CN" sz="60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altLang="zh-CN" sz="60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Loops to Matrix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sz="60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sz="60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sz="60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44437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E322A-6AC5-97D9-1949-ABB31535F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D845785-A6EE-03F5-5E48-B72694D90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49309" cy="600075"/>
          </a:xfrm>
          <a:prstGeom prst="rect">
            <a:avLst/>
          </a:prstGeom>
        </p:spPr>
      </p:pic>
      <p:sp>
        <p:nvSpPr>
          <p:cNvPr id="17" name="object 18">
            <a:extLst>
              <a:ext uri="{FF2B5EF4-FFF2-40B4-BE49-F238E27FC236}">
                <a16:creationId xmlns:a16="http://schemas.microsoft.com/office/drawing/2014/main" id="{F915D17D-F125-4061-AF26-83C57E67A6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38337" y="581025"/>
            <a:ext cx="8315325" cy="39523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for </a:t>
            </a:r>
            <a:r>
              <a:rPr lang="en-US" sz="3200" i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ant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in </a:t>
            </a:r>
            <a:r>
              <a:rPr lang="en-US" sz="3200" i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all_ants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: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while </a:t>
            </a:r>
            <a:r>
              <a:rPr lang="en-US" sz="3200" i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unvisited_cities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is not empty: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         for </a:t>
            </a:r>
            <a:r>
              <a:rPr lang="en-US" sz="3200" i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cities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in </a:t>
            </a:r>
            <a:r>
              <a:rPr lang="en-US" sz="3200" i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unvisted_cities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: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               </a:t>
            </a:r>
            <a:r>
              <a:rPr lang="en-US" sz="3200" b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calculate_priority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by </a:t>
            </a:r>
            <a:r>
              <a:rPr lang="en-US" sz="3200" i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individual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;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               choose </a:t>
            </a:r>
            <a:r>
              <a:rPr lang="en-US" sz="3200" i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next_city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;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         end for;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end while;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end for;</a:t>
            </a:r>
            <a:endParaRPr sz="32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41A0200-54D4-47BB-BA83-0FD050A6B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7565"/>
            <a:ext cx="12192000" cy="3705378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059AA8BE-F457-4CB2-9F72-4483BE6D05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3853893"/>
            <a:ext cx="12192000" cy="286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381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E322A-6AC5-97D9-1949-ABB31535F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D845785-A6EE-03F5-5E48-B72694D90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49309" cy="600075"/>
          </a:xfrm>
          <a:prstGeom prst="rect">
            <a:avLst/>
          </a:prstGeom>
        </p:spPr>
      </p:pic>
      <p:sp>
        <p:nvSpPr>
          <p:cNvPr id="6" name="object 18">
            <a:extLst>
              <a:ext uri="{FF2B5EF4-FFF2-40B4-BE49-F238E27FC236}">
                <a16:creationId xmlns:a16="http://schemas.microsoft.com/office/drawing/2014/main" id="{5A47DBC2-E100-4C3E-8BE7-DFBEAF374A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38337" y="467933"/>
            <a:ext cx="8315325" cy="5922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for </a:t>
            </a:r>
            <a:r>
              <a:rPr lang="en-US" sz="3200" i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individual</a:t>
            </a: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in </a:t>
            </a:r>
            <a:r>
              <a:rPr lang="en-US" sz="3200" i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population</a:t>
            </a: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:</a:t>
            </a:r>
            <a:b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#ACO simulation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for </a:t>
            </a:r>
            <a:r>
              <a:rPr lang="en-US" sz="3200" i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ant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in </a:t>
            </a:r>
            <a:r>
              <a:rPr lang="en-US" sz="3200" i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all_ants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: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while </a:t>
            </a:r>
            <a:r>
              <a:rPr lang="en-US" sz="3200" i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unvisited_cities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is not empty: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         for </a:t>
            </a:r>
            <a:r>
              <a:rPr lang="en-US" sz="3200" i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cities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in </a:t>
            </a:r>
            <a:r>
              <a:rPr lang="en-US" sz="3200" i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unvisted_cities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: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               </a:t>
            </a:r>
            <a:r>
              <a:rPr lang="en-US" sz="3200" b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calculate_priority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by </a:t>
            </a:r>
            <a:r>
              <a:rPr lang="en-US" sz="3200" i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individual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;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               choose </a:t>
            </a:r>
            <a:r>
              <a:rPr lang="en-US" sz="3200" i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next_city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;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         end for;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end while;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end for;</a:t>
            </a:r>
            <a:br>
              <a:rPr lang="en-US" sz="3200" b="1" spc="-5" dirty="0">
                <a:solidFill>
                  <a:srgbClr val="FFFF00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offspring;</a:t>
            </a:r>
            <a:b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end for</a:t>
            </a:r>
            <a:endParaRPr sz="32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3B884D0-1DB9-4665-89A6-AD1A0F899949}"/>
              </a:ext>
            </a:extLst>
          </p:cNvPr>
          <p:cNvSpPr/>
          <p:nvPr/>
        </p:nvSpPr>
        <p:spPr>
          <a:xfrm>
            <a:off x="3064493" y="2019300"/>
            <a:ext cx="6212857" cy="457200"/>
          </a:xfrm>
          <a:prstGeom prst="round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15698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E322A-6AC5-97D9-1949-ABB31535F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D845785-A6EE-03F5-5E48-B72694D90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49309" cy="600075"/>
          </a:xfrm>
          <a:prstGeom prst="rect">
            <a:avLst/>
          </a:prstGeom>
        </p:spPr>
      </p:pic>
      <p:sp>
        <p:nvSpPr>
          <p:cNvPr id="6" name="object 18">
            <a:extLst>
              <a:ext uri="{FF2B5EF4-FFF2-40B4-BE49-F238E27FC236}">
                <a16:creationId xmlns:a16="http://schemas.microsoft.com/office/drawing/2014/main" id="{5A47DBC2-E100-4C3E-8BE7-DFBEAF374A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38337" y="467933"/>
            <a:ext cx="8315325" cy="5922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for </a:t>
            </a:r>
            <a:r>
              <a:rPr lang="en-US" sz="3200" i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individual</a:t>
            </a: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in </a:t>
            </a:r>
            <a:r>
              <a:rPr lang="en-US" sz="3200" i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population</a:t>
            </a: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:</a:t>
            </a:r>
            <a:b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#ACO simulation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for </a:t>
            </a:r>
            <a:r>
              <a:rPr lang="en-US" sz="3200" i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ant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in </a:t>
            </a:r>
            <a:r>
              <a:rPr lang="en-US" sz="3200" i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all_ants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: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while </a:t>
            </a:r>
            <a:r>
              <a:rPr lang="en-US" sz="3200" i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unvisited_cities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is not empty: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         for </a:t>
            </a:r>
            <a:r>
              <a:rPr lang="en-US" sz="3200" i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cities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in </a:t>
            </a:r>
            <a:r>
              <a:rPr lang="en-US" sz="3200" i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unvisted_cities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: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               </a:t>
            </a:r>
            <a:r>
              <a:rPr lang="en-US" sz="3200" b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calculate_priority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by </a:t>
            </a:r>
            <a:r>
              <a:rPr lang="en-US" sz="3200" i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individual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;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               choose </a:t>
            </a:r>
            <a:r>
              <a:rPr lang="en-US" sz="3200" i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next_city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;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         end for;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end while;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end for;</a:t>
            </a:r>
            <a:br>
              <a:rPr lang="en-US" sz="3200" b="1" spc="-5" dirty="0">
                <a:solidFill>
                  <a:srgbClr val="FFFF00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offspring;</a:t>
            </a:r>
            <a:b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end for</a:t>
            </a:r>
            <a:endParaRPr sz="32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3B884D0-1DB9-4665-89A6-AD1A0F899949}"/>
              </a:ext>
            </a:extLst>
          </p:cNvPr>
          <p:cNvSpPr/>
          <p:nvPr/>
        </p:nvSpPr>
        <p:spPr>
          <a:xfrm>
            <a:off x="3064493" y="2019300"/>
            <a:ext cx="6212857" cy="457200"/>
          </a:xfrm>
          <a:prstGeom prst="round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rgbClr val="FF0000"/>
              </a:solidFill>
            </a:endParaRPr>
          </a:p>
        </p:txBody>
      </p:sp>
      <p:sp>
        <p:nvSpPr>
          <p:cNvPr id="9" name="object 18">
            <a:extLst>
              <a:ext uri="{FF2B5EF4-FFF2-40B4-BE49-F238E27FC236}">
                <a16:creationId xmlns:a16="http://schemas.microsoft.com/office/drawing/2014/main" id="{1252A0AD-B0E2-4D75-BEA9-9E8FBCD3DAF8}"/>
              </a:ext>
            </a:extLst>
          </p:cNvPr>
          <p:cNvSpPr txBox="1">
            <a:spLocks/>
          </p:cNvSpPr>
          <p:nvPr/>
        </p:nvSpPr>
        <p:spPr>
          <a:xfrm>
            <a:off x="0" y="574373"/>
            <a:ext cx="12192000" cy="5709255"/>
          </a:xfrm>
          <a:prstGeom prst="rect">
            <a:avLst/>
          </a:prstGeom>
          <a:solidFill>
            <a:schemeClr val="tx1">
              <a:alpha val="81000"/>
            </a:schemeClr>
          </a:solidFill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zh-CN" sz="60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zh-CN" sz="60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altLang="zh-CN" sz="66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How to deal with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altLang="zh-CN" sz="6000" i="1" spc="-5" dirty="0" err="1">
                <a:solidFill>
                  <a:srgbClr val="FFFF00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unvisited_cities</a:t>
            </a:r>
            <a:r>
              <a:rPr lang="en-US" altLang="zh-CN" sz="6000" i="1" spc="-5" dirty="0">
                <a:solidFill>
                  <a:srgbClr val="FFFF00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</a:t>
            </a:r>
            <a:r>
              <a:rPr lang="en-US" altLang="zh-CN" sz="60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?</a:t>
            </a:r>
            <a:endParaRPr lang="en-US" sz="60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sz="60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sz="60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3318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E322A-6AC5-97D9-1949-ABB31535F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D845785-A6EE-03F5-5E48-B72694D90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49309" cy="600075"/>
          </a:xfrm>
          <a:prstGeom prst="rect">
            <a:avLst/>
          </a:prstGeom>
        </p:spPr>
      </p:pic>
      <p:sp>
        <p:nvSpPr>
          <p:cNvPr id="6" name="object 18">
            <a:extLst>
              <a:ext uri="{FF2B5EF4-FFF2-40B4-BE49-F238E27FC236}">
                <a16:creationId xmlns:a16="http://schemas.microsoft.com/office/drawing/2014/main" id="{5A47DBC2-E100-4C3E-8BE7-DFBEAF374A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38337" y="467933"/>
            <a:ext cx="8315325" cy="5922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for </a:t>
            </a:r>
            <a:r>
              <a:rPr lang="en-US" sz="3200" i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individual</a:t>
            </a: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in </a:t>
            </a:r>
            <a:r>
              <a:rPr lang="en-US" sz="3200" i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population</a:t>
            </a: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:</a:t>
            </a:r>
            <a:b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#ACO simulation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for </a:t>
            </a:r>
            <a:r>
              <a:rPr lang="en-US" sz="3200" i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ant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in </a:t>
            </a:r>
            <a:r>
              <a:rPr lang="en-US" sz="3200" i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all_ants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: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while </a:t>
            </a:r>
            <a:r>
              <a:rPr lang="en-US" sz="3200" i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unvisited_cities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is not empty: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         for </a:t>
            </a:r>
            <a:r>
              <a:rPr lang="en-US" sz="3200" i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cities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in </a:t>
            </a:r>
            <a:r>
              <a:rPr lang="en-US" sz="3200" i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unvisted_cities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: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               </a:t>
            </a:r>
            <a:r>
              <a:rPr lang="en-US" sz="3200" b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calculate_priority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by </a:t>
            </a:r>
            <a:r>
              <a:rPr lang="en-US" sz="3200" i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individual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;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               choose </a:t>
            </a:r>
            <a:r>
              <a:rPr lang="en-US" sz="3200" i="1" spc="-5" dirty="0" err="1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next_city</a:t>
            </a: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;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         end for;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        end while;</a:t>
            </a:r>
            <a:b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end for;</a:t>
            </a:r>
            <a:br>
              <a:rPr lang="en-US" sz="3200" b="1" spc="-5" dirty="0">
                <a:solidFill>
                  <a:srgbClr val="FFFF00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      offspring;</a:t>
            </a:r>
            <a:b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end for</a:t>
            </a:r>
            <a:endParaRPr sz="32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3B884D0-1DB9-4665-89A6-AD1A0F899949}"/>
              </a:ext>
            </a:extLst>
          </p:cNvPr>
          <p:cNvSpPr/>
          <p:nvPr/>
        </p:nvSpPr>
        <p:spPr>
          <a:xfrm>
            <a:off x="3064493" y="2019300"/>
            <a:ext cx="6212857" cy="457200"/>
          </a:xfrm>
          <a:prstGeom prst="round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rgbClr val="FF0000"/>
              </a:solidFill>
            </a:endParaRPr>
          </a:p>
        </p:txBody>
      </p:sp>
      <p:sp>
        <p:nvSpPr>
          <p:cNvPr id="9" name="object 18">
            <a:extLst>
              <a:ext uri="{FF2B5EF4-FFF2-40B4-BE49-F238E27FC236}">
                <a16:creationId xmlns:a16="http://schemas.microsoft.com/office/drawing/2014/main" id="{1252A0AD-B0E2-4D75-BEA9-9E8FBCD3DAF8}"/>
              </a:ext>
            </a:extLst>
          </p:cNvPr>
          <p:cNvSpPr txBox="1">
            <a:spLocks/>
          </p:cNvSpPr>
          <p:nvPr/>
        </p:nvSpPr>
        <p:spPr>
          <a:xfrm>
            <a:off x="0" y="-1425"/>
            <a:ext cx="12192000" cy="6860853"/>
          </a:xfrm>
          <a:prstGeom prst="rect">
            <a:avLst/>
          </a:prstGeom>
          <a:solidFill>
            <a:schemeClr val="tx1">
              <a:alpha val="81000"/>
            </a:schemeClr>
          </a:solidFill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zh-CN" sz="60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zh-CN" sz="60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altLang="zh-CN" sz="60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altLang="zh-CN" sz="54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Matrix A × Matrix B × </a:t>
            </a:r>
            <a:r>
              <a:rPr lang="en-US" altLang="zh-CN" sz="8000" b="1" spc="-5" dirty="0">
                <a:gradFill>
                  <a:gsLst>
                    <a:gs pos="69000">
                      <a:srgbClr val="A32AD4"/>
                    </a:gs>
                    <a:gs pos="95000">
                      <a:srgbClr val="7030A0"/>
                    </a:gs>
                    <a:gs pos="22000">
                      <a:srgbClr val="0070C0"/>
                    </a:gs>
                    <a:gs pos="45000">
                      <a:srgbClr val="00B0F0"/>
                    </a:gs>
                  </a:gsLst>
                  <a:lin ang="18900000" scaled="1"/>
                </a:gra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Mask</a:t>
            </a:r>
            <a:endParaRPr lang="en-US" sz="8000" b="1" spc="-5" dirty="0">
              <a:gradFill>
                <a:gsLst>
                  <a:gs pos="69000">
                    <a:srgbClr val="A32AD4"/>
                  </a:gs>
                  <a:gs pos="95000">
                    <a:srgbClr val="7030A0"/>
                  </a:gs>
                  <a:gs pos="22000">
                    <a:srgbClr val="0070C0"/>
                  </a:gs>
                  <a:gs pos="45000">
                    <a:srgbClr val="00B0F0"/>
                  </a:gs>
                </a:gsLst>
                <a:lin ang="18900000" scaled="1"/>
              </a:gra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sz="60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sz="60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sz="60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91640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9B882B7-8C3B-4F22-A224-6ECF8E442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49309" cy="600075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0B59B0C-4C22-4710-8B5F-245B469C2769}"/>
              </a:ext>
            </a:extLst>
          </p:cNvPr>
          <p:cNvSpPr/>
          <p:nvPr/>
        </p:nvSpPr>
        <p:spPr>
          <a:xfrm>
            <a:off x="2252313" y="674469"/>
            <a:ext cx="9450402" cy="1411606"/>
          </a:xfrm>
          <a:prstGeom prst="round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0BFA83B7-407F-4D3B-B9A2-205089C01586}"/>
              </a:ext>
            </a:extLst>
          </p:cNvPr>
          <p:cNvSpPr txBox="1">
            <a:spLocks/>
          </p:cNvSpPr>
          <p:nvPr/>
        </p:nvSpPr>
        <p:spPr>
          <a:xfrm>
            <a:off x="0" y="745482"/>
            <a:ext cx="2440154" cy="1269578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CPU 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Main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Thread 0</a:t>
            </a:r>
            <a:endParaRPr lang="en-US" sz="32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82227E0-07E2-4693-A917-1AD670AE9A89}"/>
              </a:ext>
            </a:extLst>
          </p:cNvPr>
          <p:cNvGrpSpPr/>
          <p:nvPr/>
        </p:nvGrpSpPr>
        <p:grpSpPr>
          <a:xfrm>
            <a:off x="4126483" y="903044"/>
            <a:ext cx="2213809" cy="954454"/>
            <a:chOff x="2478658" y="1569794"/>
            <a:chExt cx="2213809" cy="954454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E117E3B9-4725-48CD-8121-E447CC391038}"/>
                </a:ext>
              </a:extLst>
            </p:cNvPr>
            <p:cNvSpPr/>
            <p:nvPr/>
          </p:nvSpPr>
          <p:spPr>
            <a:xfrm>
              <a:off x="2478658" y="1569794"/>
              <a:ext cx="2213809" cy="954454"/>
            </a:xfrm>
            <a:prstGeom prst="roundRect">
              <a:avLst/>
            </a:prstGeom>
            <a:noFill/>
            <a:ln w="28575">
              <a:gradFill flip="none" rotWithShape="1">
                <a:gsLst>
                  <a:gs pos="0">
                    <a:srgbClr val="7030A0"/>
                  </a:gs>
                  <a:gs pos="31000">
                    <a:srgbClr val="A32AD4"/>
                  </a:gs>
                  <a:gs pos="100000">
                    <a:srgbClr val="0070C0"/>
                  </a:gs>
                  <a:gs pos="67000">
                    <a:srgbClr val="00B0F0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1" name="object 18">
              <a:extLst>
                <a:ext uri="{FF2B5EF4-FFF2-40B4-BE49-F238E27FC236}">
                  <a16:creationId xmlns:a16="http://schemas.microsoft.com/office/drawing/2014/main" id="{0F1C2F28-F902-48A2-8E87-74FF2B5AEF71}"/>
                </a:ext>
              </a:extLst>
            </p:cNvPr>
            <p:cNvSpPr txBox="1">
              <a:spLocks/>
            </p:cNvSpPr>
            <p:nvPr/>
          </p:nvSpPr>
          <p:spPr>
            <a:xfrm>
              <a:off x="2669997" y="1628313"/>
              <a:ext cx="1831130" cy="825867"/>
            </a:xfrm>
            <a:prstGeom prst="rect">
              <a:avLst/>
            </a:prstGeom>
          </p:spPr>
          <p:txBody>
            <a:bodyPr vert="horz" wrap="square" lIns="0" tIns="1270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32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Simulation</a:t>
              </a:r>
            </a:p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20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Individual 0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08DE600C-8F14-4539-A8F4-3330BA33CA3A}"/>
              </a:ext>
            </a:extLst>
          </p:cNvPr>
          <p:cNvGrpSpPr/>
          <p:nvPr/>
        </p:nvGrpSpPr>
        <p:grpSpPr>
          <a:xfrm>
            <a:off x="6411530" y="903044"/>
            <a:ext cx="2213809" cy="954454"/>
            <a:chOff x="2478658" y="1569794"/>
            <a:chExt cx="2213809" cy="954454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7C4301E-A7F1-4D60-A334-B4D30C99E8F3}"/>
                </a:ext>
              </a:extLst>
            </p:cNvPr>
            <p:cNvSpPr/>
            <p:nvPr/>
          </p:nvSpPr>
          <p:spPr>
            <a:xfrm>
              <a:off x="2478658" y="1569794"/>
              <a:ext cx="2213809" cy="954454"/>
            </a:xfrm>
            <a:prstGeom prst="roundRect">
              <a:avLst/>
            </a:prstGeom>
            <a:noFill/>
            <a:ln w="28575">
              <a:gradFill flip="none" rotWithShape="1">
                <a:gsLst>
                  <a:gs pos="0">
                    <a:srgbClr val="7030A0"/>
                  </a:gs>
                  <a:gs pos="31000">
                    <a:srgbClr val="A32AD4"/>
                  </a:gs>
                  <a:gs pos="100000">
                    <a:srgbClr val="0070C0"/>
                  </a:gs>
                  <a:gs pos="67000">
                    <a:srgbClr val="00B0F0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" name="object 18">
              <a:extLst>
                <a:ext uri="{FF2B5EF4-FFF2-40B4-BE49-F238E27FC236}">
                  <a16:creationId xmlns:a16="http://schemas.microsoft.com/office/drawing/2014/main" id="{E9A7E3F8-2FD9-4C25-B49D-E834210CC300}"/>
                </a:ext>
              </a:extLst>
            </p:cNvPr>
            <p:cNvSpPr txBox="1">
              <a:spLocks/>
            </p:cNvSpPr>
            <p:nvPr/>
          </p:nvSpPr>
          <p:spPr>
            <a:xfrm>
              <a:off x="2669997" y="1628313"/>
              <a:ext cx="1831130" cy="825867"/>
            </a:xfrm>
            <a:prstGeom prst="rect">
              <a:avLst/>
            </a:prstGeom>
          </p:spPr>
          <p:txBody>
            <a:bodyPr vert="horz" wrap="square" lIns="0" tIns="1270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32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Simulation</a:t>
              </a:r>
            </a:p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20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Individual 4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4E6A3F7B-AC32-415B-8AFA-45EAB7453705}"/>
              </a:ext>
            </a:extLst>
          </p:cNvPr>
          <p:cNvGrpSpPr/>
          <p:nvPr/>
        </p:nvGrpSpPr>
        <p:grpSpPr>
          <a:xfrm>
            <a:off x="8696577" y="897269"/>
            <a:ext cx="2213809" cy="954454"/>
            <a:chOff x="2478658" y="1569794"/>
            <a:chExt cx="2213809" cy="954454"/>
          </a:xfrm>
        </p:grpSpPr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6D31D3ED-C7B3-42BD-8CB5-268476E16D06}"/>
                </a:ext>
              </a:extLst>
            </p:cNvPr>
            <p:cNvSpPr/>
            <p:nvPr/>
          </p:nvSpPr>
          <p:spPr>
            <a:xfrm>
              <a:off x="2478658" y="1569794"/>
              <a:ext cx="2213809" cy="954454"/>
            </a:xfrm>
            <a:prstGeom prst="roundRect">
              <a:avLst/>
            </a:prstGeom>
            <a:noFill/>
            <a:ln w="28575">
              <a:gradFill flip="none" rotWithShape="1">
                <a:gsLst>
                  <a:gs pos="0">
                    <a:srgbClr val="7030A0"/>
                  </a:gs>
                  <a:gs pos="31000">
                    <a:srgbClr val="A32AD4"/>
                  </a:gs>
                  <a:gs pos="100000">
                    <a:srgbClr val="0070C0"/>
                  </a:gs>
                  <a:gs pos="67000">
                    <a:srgbClr val="00B0F0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" name="object 18">
              <a:extLst>
                <a:ext uri="{FF2B5EF4-FFF2-40B4-BE49-F238E27FC236}">
                  <a16:creationId xmlns:a16="http://schemas.microsoft.com/office/drawing/2014/main" id="{124C02F9-6ED2-4968-86B5-710E558EF9AB}"/>
                </a:ext>
              </a:extLst>
            </p:cNvPr>
            <p:cNvSpPr txBox="1">
              <a:spLocks/>
            </p:cNvSpPr>
            <p:nvPr/>
          </p:nvSpPr>
          <p:spPr>
            <a:xfrm>
              <a:off x="2669997" y="1628313"/>
              <a:ext cx="1831130" cy="825867"/>
            </a:xfrm>
            <a:prstGeom prst="rect">
              <a:avLst/>
            </a:prstGeom>
          </p:spPr>
          <p:txBody>
            <a:bodyPr vert="horz" wrap="square" lIns="0" tIns="1270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32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Simulation</a:t>
              </a:r>
            </a:p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20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Individual 8</a:t>
              </a:r>
            </a:p>
          </p:txBody>
        </p:sp>
      </p:grp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6D13E9CC-824D-4A85-9254-34DFFE51C00F}"/>
              </a:ext>
            </a:extLst>
          </p:cNvPr>
          <p:cNvSpPr/>
          <p:nvPr/>
        </p:nvSpPr>
        <p:spPr>
          <a:xfrm>
            <a:off x="2252313" y="2227357"/>
            <a:ext cx="9450402" cy="1411606"/>
          </a:xfrm>
          <a:prstGeom prst="round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3" name="object 18">
            <a:extLst>
              <a:ext uri="{FF2B5EF4-FFF2-40B4-BE49-F238E27FC236}">
                <a16:creationId xmlns:a16="http://schemas.microsoft.com/office/drawing/2014/main" id="{82C9F747-DC6A-4D5B-B336-AE9B7F5A32F4}"/>
              </a:ext>
            </a:extLst>
          </p:cNvPr>
          <p:cNvSpPr txBox="1">
            <a:spLocks/>
          </p:cNvSpPr>
          <p:nvPr/>
        </p:nvSpPr>
        <p:spPr>
          <a:xfrm>
            <a:off x="0" y="2298370"/>
            <a:ext cx="2440154" cy="1269578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CPU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Main 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Thread 1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B0C0A69-F4C4-4138-B400-F982596B6ACE}"/>
              </a:ext>
            </a:extLst>
          </p:cNvPr>
          <p:cNvGrpSpPr/>
          <p:nvPr/>
        </p:nvGrpSpPr>
        <p:grpSpPr>
          <a:xfrm>
            <a:off x="4126483" y="2455932"/>
            <a:ext cx="2213809" cy="954454"/>
            <a:chOff x="2478658" y="1569794"/>
            <a:chExt cx="2213809" cy="954454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37AD61B5-327A-4B09-A617-FD125544066C}"/>
                </a:ext>
              </a:extLst>
            </p:cNvPr>
            <p:cNvSpPr/>
            <p:nvPr/>
          </p:nvSpPr>
          <p:spPr>
            <a:xfrm>
              <a:off x="2478658" y="1569794"/>
              <a:ext cx="2213809" cy="954454"/>
            </a:xfrm>
            <a:prstGeom prst="roundRect">
              <a:avLst/>
            </a:prstGeom>
            <a:noFill/>
            <a:ln w="28575">
              <a:gradFill flip="none" rotWithShape="1">
                <a:gsLst>
                  <a:gs pos="0">
                    <a:srgbClr val="7030A0"/>
                  </a:gs>
                  <a:gs pos="31000">
                    <a:srgbClr val="A32AD4"/>
                  </a:gs>
                  <a:gs pos="100000">
                    <a:srgbClr val="0070C0"/>
                  </a:gs>
                  <a:gs pos="67000">
                    <a:srgbClr val="00B0F0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6" name="object 18">
              <a:extLst>
                <a:ext uri="{FF2B5EF4-FFF2-40B4-BE49-F238E27FC236}">
                  <a16:creationId xmlns:a16="http://schemas.microsoft.com/office/drawing/2014/main" id="{2F355129-04DC-46B5-94EC-3F3EB8A849C7}"/>
                </a:ext>
              </a:extLst>
            </p:cNvPr>
            <p:cNvSpPr txBox="1">
              <a:spLocks/>
            </p:cNvSpPr>
            <p:nvPr/>
          </p:nvSpPr>
          <p:spPr>
            <a:xfrm>
              <a:off x="2669997" y="1628313"/>
              <a:ext cx="1831130" cy="825867"/>
            </a:xfrm>
            <a:prstGeom prst="rect">
              <a:avLst/>
            </a:prstGeom>
          </p:spPr>
          <p:txBody>
            <a:bodyPr vert="horz" wrap="square" lIns="0" tIns="1270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32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Simulation</a:t>
              </a:r>
            </a:p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20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Individual 1</a:t>
              </a: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6BE69B56-7383-47AB-A43F-A452894E9354}"/>
              </a:ext>
            </a:extLst>
          </p:cNvPr>
          <p:cNvGrpSpPr/>
          <p:nvPr/>
        </p:nvGrpSpPr>
        <p:grpSpPr>
          <a:xfrm>
            <a:off x="6411530" y="2455932"/>
            <a:ext cx="2213809" cy="954454"/>
            <a:chOff x="2478658" y="1569794"/>
            <a:chExt cx="2213809" cy="954454"/>
          </a:xfrm>
        </p:grpSpPr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BFA636BC-A2A6-4BAA-9D67-BB7791F935D9}"/>
                </a:ext>
              </a:extLst>
            </p:cNvPr>
            <p:cNvSpPr/>
            <p:nvPr/>
          </p:nvSpPr>
          <p:spPr>
            <a:xfrm>
              <a:off x="2478658" y="1569794"/>
              <a:ext cx="2213809" cy="954454"/>
            </a:xfrm>
            <a:prstGeom prst="roundRect">
              <a:avLst/>
            </a:prstGeom>
            <a:noFill/>
            <a:ln w="28575">
              <a:gradFill flip="none" rotWithShape="1">
                <a:gsLst>
                  <a:gs pos="0">
                    <a:srgbClr val="7030A0"/>
                  </a:gs>
                  <a:gs pos="31000">
                    <a:srgbClr val="A32AD4"/>
                  </a:gs>
                  <a:gs pos="100000">
                    <a:srgbClr val="0070C0"/>
                  </a:gs>
                  <a:gs pos="67000">
                    <a:srgbClr val="00B0F0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9" name="object 18">
              <a:extLst>
                <a:ext uri="{FF2B5EF4-FFF2-40B4-BE49-F238E27FC236}">
                  <a16:creationId xmlns:a16="http://schemas.microsoft.com/office/drawing/2014/main" id="{4C0ABAFE-F0B5-47DC-8065-2ED25875698F}"/>
                </a:ext>
              </a:extLst>
            </p:cNvPr>
            <p:cNvSpPr txBox="1">
              <a:spLocks/>
            </p:cNvSpPr>
            <p:nvPr/>
          </p:nvSpPr>
          <p:spPr>
            <a:xfrm>
              <a:off x="2669997" y="1628313"/>
              <a:ext cx="1831130" cy="825867"/>
            </a:xfrm>
            <a:prstGeom prst="rect">
              <a:avLst/>
            </a:prstGeom>
          </p:spPr>
          <p:txBody>
            <a:bodyPr vert="horz" wrap="square" lIns="0" tIns="1270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32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Simulation</a:t>
              </a:r>
            </a:p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20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Individual 5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7A41F579-DF74-4EAC-AE6B-171E98F9E9C4}"/>
              </a:ext>
            </a:extLst>
          </p:cNvPr>
          <p:cNvGrpSpPr/>
          <p:nvPr/>
        </p:nvGrpSpPr>
        <p:grpSpPr>
          <a:xfrm>
            <a:off x="8696577" y="2450157"/>
            <a:ext cx="2213809" cy="954454"/>
            <a:chOff x="2478658" y="1569794"/>
            <a:chExt cx="2213809" cy="954454"/>
          </a:xfrm>
        </p:grpSpPr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FA7D163E-9341-469F-8691-137706F6D670}"/>
                </a:ext>
              </a:extLst>
            </p:cNvPr>
            <p:cNvSpPr/>
            <p:nvPr/>
          </p:nvSpPr>
          <p:spPr>
            <a:xfrm>
              <a:off x="2478658" y="1569794"/>
              <a:ext cx="2213809" cy="954454"/>
            </a:xfrm>
            <a:prstGeom prst="roundRect">
              <a:avLst/>
            </a:prstGeom>
            <a:noFill/>
            <a:ln w="28575">
              <a:gradFill flip="none" rotWithShape="1">
                <a:gsLst>
                  <a:gs pos="0">
                    <a:srgbClr val="7030A0"/>
                  </a:gs>
                  <a:gs pos="31000">
                    <a:srgbClr val="A32AD4"/>
                  </a:gs>
                  <a:gs pos="100000">
                    <a:srgbClr val="0070C0"/>
                  </a:gs>
                  <a:gs pos="67000">
                    <a:srgbClr val="00B0F0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2" name="object 18">
              <a:extLst>
                <a:ext uri="{FF2B5EF4-FFF2-40B4-BE49-F238E27FC236}">
                  <a16:creationId xmlns:a16="http://schemas.microsoft.com/office/drawing/2014/main" id="{750AC2B2-3BDD-436A-B690-A53F911044E1}"/>
                </a:ext>
              </a:extLst>
            </p:cNvPr>
            <p:cNvSpPr txBox="1">
              <a:spLocks/>
            </p:cNvSpPr>
            <p:nvPr/>
          </p:nvSpPr>
          <p:spPr>
            <a:xfrm>
              <a:off x="2669997" y="1628313"/>
              <a:ext cx="1831130" cy="825867"/>
            </a:xfrm>
            <a:prstGeom prst="rect">
              <a:avLst/>
            </a:prstGeom>
          </p:spPr>
          <p:txBody>
            <a:bodyPr vert="horz" wrap="square" lIns="0" tIns="1270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32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Simulation</a:t>
              </a:r>
            </a:p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20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Individual 9</a:t>
              </a:r>
            </a:p>
          </p:txBody>
        </p:sp>
      </p:grpSp>
      <p:sp>
        <p:nvSpPr>
          <p:cNvPr id="60" name="文本框 59">
            <a:extLst>
              <a:ext uri="{FF2B5EF4-FFF2-40B4-BE49-F238E27FC236}">
                <a16:creationId xmlns:a16="http://schemas.microsoft.com/office/drawing/2014/main" id="{D12BB681-4C32-446B-8AB1-35DC279FD6DC}"/>
              </a:ext>
            </a:extLst>
          </p:cNvPr>
          <p:cNvSpPr txBox="1"/>
          <p:nvPr/>
        </p:nvSpPr>
        <p:spPr>
          <a:xfrm>
            <a:off x="10452771" y="964772"/>
            <a:ext cx="14884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···</a:t>
            </a:r>
            <a:endParaRPr lang="zh-CN" altLang="en-US" sz="4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24769790-8DEB-411C-B367-6FA7B692FB26}"/>
              </a:ext>
            </a:extLst>
          </p:cNvPr>
          <p:cNvSpPr txBox="1"/>
          <p:nvPr/>
        </p:nvSpPr>
        <p:spPr>
          <a:xfrm>
            <a:off x="10457803" y="2517660"/>
            <a:ext cx="14884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···</a:t>
            </a:r>
            <a:endParaRPr lang="zh-CN" altLang="en-US" sz="4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object 18">
            <a:extLst>
              <a:ext uri="{FF2B5EF4-FFF2-40B4-BE49-F238E27FC236}">
                <a16:creationId xmlns:a16="http://schemas.microsoft.com/office/drawing/2014/main" id="{B605FABC-6451-48F8-B845-0BC764710A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8687" y="145596"/>
            <a:ext cx="1033462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altLang="zh-CN" sz="28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Parallel inside Simulation/Evaluation</a:t>
            </a:r>
            <a:endParaRPr sz="28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49C84BB3-0AE7-4A7B-B2CF-87C5E1BFE597}"/>
              </a:ext>
            </a:extLst>
          </p:cNvPr>
          <p:cNvSpPr/>
          <p:nvPr/>
        </p:nvSpPr>
        <p:spPr>
          <a:xfrm>
            <a:off x="2252313" y="3780243"/>
            <a:ext cx="9450402" cy="1411606"/>
          </a:xfrm>
          <a:prstGeom prst="round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4" name="object 18">
            <a:extLst>
              <a:ext uri="{FF2B5EF4-FFF2-40B4-BE49-F238E27FC236}">
                <a16:creationId xmlns:a16="http://schemas.microsoft.com/office/drawing/2014/main" id="{671F8665-03BB-4A22-A1E1-D74AB653FE68}"/>
              </a:ext>
            </a:extLst>
          </p:cNvPr>
          <p:cNvSpPr txBox="1">
            <a:spLocks/>
          </p:cNvSpPr>
          <p:nvPr/>
        </p:nvSpPr>
        <p:spPr>
          <a:xfrm>
            <a:off x="0" y="3851256"/>
            <a:ext cx="2440154" cy="1269578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CPU 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Main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Thread 2</a:t>
            </a:r>
            <a:endParaRPr lang="en-US" sz="32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99472FD2-D385-487F-8A53-0052DE65E5E9}"/>
              </a:ext>
            </a:extLst>
          </p:cNvPr>
          <p:cNvGrpSpPr/>
          <p:nvPr/>
        </p:nvGrpSpPr>
        <p:grpSpPr>
          <a:xfrm>
            <a:off x="4126483" y="4008818"/>
            <a:ext cx="2213809" cy="954454"/>
            <a:chOff x="2478658" y="1569794"/>
            <a:chExt cx="2213809" cy="954454"/>
          </a:xfrm>
        </p:grpSpPr>
        <p:sp>
          <p:nvSpPr>
            <p:cNvPr id="57" name="矩形: 圆角 56">
              <a:extLst>
                <a:ext uri="{FF2B5EF4-FFF2-40B4-BE49-F238E27FC236}">
                  <a16:creationId xmlns:a16="http://schemas.microsoft.com/office/drawing/2014/main" id="{EDC01FE6-1035-4B61-8F5F-23257BA8FFA7}"/>
                </a:ext>
              </a:extLst>
            </p:cNvPr>
            <p:cNvSpPr/>
            <p:nvPr/>
          </p:nvSpPr>
          <p:spPr>
            <a:xfrm>
              <a:off x="2478658" y="1569794"/>
              <a:ext cx="2213809" cy="954454"/>
            </a:xfrm>
            <a:prstGeom prst="roundRect">
              <a:avLst/>
            </a:prstGeom>
            <a:noFill/>
            <a:ln w="28575">
              <a:gradFill flip="none" rotWithShape="1">
                <a:gsLst>
                  <a:gs pos="0">
                    <a:srgbClr val="7030A0"/>
                  </a:gs>
                  <a:gs pos="31000">
                    <a:srgbClr val="A32AD4"/>
                  </a:gs>
                  <a:gs pos="100000">
                    <a:srgbClr val="0070C0"/>
                  </a:gs>
                  <a:gs pos="67000">
                    <a:srgbClr val="00B0F0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4" name="object 18">
              <a:extLst>
                <a:ext uri="{FF2B5EF4-FFF2-40B4-BE49-F238E27FC236}">
                  <a16:creationId xmlns:a16="http://schemas.microsoft.com/office/drawing/2014/main" id="{18978D56-08ED-494D-9816-07A374DA3C23}"/>
                </a:ext>
              </a:extLst>
            </p:cNvPr>
            <p:cNvSpPr txBox="1">
              <a:spLocks/>
            </p:cNvSpPr>
            <p:nvPr/>
          </p:nvSpPr>
          <p:spPr>
            <a:xfrm>
              <a:off x="2669997" y="1628313"/>
              <a:ext cx="1831130" cy="825867"/>
            </a:xfrm>
            <a:prstGeom prst="rect">
              <a:avLst/>
            </a:prstGeom>
          </p:spPr>
          <p:txBody>
            <a:bodyPr vert="horz" wrap="square" lIns="0" tIns="1270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32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Simulation</a:t>
              </a:r>
            </a:p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20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Individual 2</a:t>
              </a: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1DFB88B-5567-4664-8B21-544F3C1CEB73}"/>
              </a:ext>
            </a:extLst>
          </p:cNvPr>
          <p:cNvGrpSpPr/>
          <p:nvPr/>
        </p:nvGrpSpPr>
        <p:grpSpPr>
          <a:xfrm>
            <a:off x="6411530" y="4008818"/>
            <a:ext cx="2213809" cy="954454"/>
            <a:chOff x="2478658" y="1569794"/>
            <a:chExt cx="2213809" cy="954454"/>
          </a:xfrm>
        </p:grpSpPr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4D979567-7198-4E16-A32B-B32F89891DE0}"/>
                </a:ext>
              </a:extLst>
            </p:cNvPr>
            <p:cNvSpPr/>
            <p:nvPr/>
          </p:nvSpPr>
          <p:spPr>
            <a:xfrm>
              <a:off x="2478658" y="1569794"/>
              <a:ext cx="2213809" cy="954454"/>
            </a:xfrm>
            <a:prstGeom prst="roundRect">
              <a:avLst/>
            </a:prstGeom>
            <a:noFill/>
            <a:ln w="28575">
              <a:gradFill flip="none" rotWithShape="1">
                <a:gsLst>
                  <a:gs pos="0">
                    <a:srgbClr val="7030A0"/>
                  </a:gs>
                  <a:gs pos="31000">
                    <a:srgbClr val="A32AD4"/>
                  </a:gs>
                  <a:gs pos="100000">
                    <a:srgbClr val="0070C0"/>
                  </a:gs>
                  <a:gs pos="67000">
                    <a:srgbClr val="00B0F0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7" name="object 18">
              <a:extLst>
                <a:ext uri="{FF2B5EF4-FFF2-40B4-BE49-F238E27FC236}">
                  <a16:creationId xmlns:a16="http://schemas.microsoft.com/office/drawing/2014/main" id="{2A396DF4-4DC6-42BD-9F3B-3B404C7D1CE7}"/>
                </a:ext>
              </a:extLst>
            </p:cNvPr>
            <p:cNvSpPr txBox="1">
              <a:spLocks/>
            </p:cNvSpPr>
            <p:nvPr/>
          </p:nvSpPr>
          <p:spPr>
            <a:xfrm>
              <a:off x="2669997" y="1628313"/>
              <a:ext cx="1831130" cy="825867"/>
            </a:xfrm>
            <a:prstGeom prst="rect">
              <a:avLst/>
            </a:prstGeom>
          </p:spPr>
          <p:txBody>
            <a:bodyPr vert="horz" wrap="square" lIns="0" tIns="1270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32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Simulation</a:t>
              </a:r>
            </a:p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20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Individual 6</a:t>
              </a:r>
            </a:p>
          </p:txBody>
        </p: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E5BB77AB-CB15-4831-907C-6566BA0E3567}"/>
              </a:ext>
            </a:extLst>
          </p:cNvPr>
          <p:cNvGrpSpPr/>
          <p:nvPr/>
        </p:nvGrpSpPr>
        <p:grpSpPr>
          <a:xfrm>
            <a:off x="8696577" y="4003043"/>
            <a:ext cx="2213809" cy="954454"/>
            <a:chOff x="2478658" y="1569794"/>
            <a:chExt cx="2213809" cy="954454"/>
          </a:xfrm>
        </p:grpSpPr>
        <p:sp>
          <p:nvSpPr>
            <p:cNvPr id="69" name="矩形: 圆角 68">
              <a:extLst>
                <a:ext uri="{FF2B5EF4-FFF2-40B4-BE49-F238E27FC236}">
                  <a16:creationId xmlns:a16="http://schemas.microsoft.com/office/drawing/2014/main" id="{54826E7E-8FEF-4CBD-8A25-0182D4E4AEC3}"/>
                </a:ext>
              </a:extLst>
            </p:cNvPr>
            <p:cNvSpPr/>
            <p:nvPr/>
          </p:nvSpPr>
          <p:spPr>
            <a:xfrm>
              <a:off x="2478658" y="1569794"/>
              <a:ext cx="2213809" cy="954454"/>
            </a:xfrm>
            <a:prstGeom prst="roundRect">
              <a:avLst/>
            </a:prstGeom>
            <a:noFill/>
            <a:ln w="28575">
              <a:gradFill flip="none" rotWithShape="1">
                <a:gsLst>
                  <a:gs pos="0">
                    <a:srgbClr val="7030A0"/>
                  </a:gs>
                  <a:gs pos="31000">
                    <a:srgbClr val="A32AD4"/>
                  </a:gs>
                  <a:gs pos="100000">
                    <a:srgbClr val="0070C0"/>
                  </a:gs>
                  <a:gs pos="67000">
                    <a:srgbClr val="00B0F0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0" name="object 18">
              <a:extLst>
                <a:ext uri="{FF2B5EF4-FFF2-40B4-BE49-F238E27FC236}">
                  <a16:creationId xmlns:a16="http://schemas.microsoft.com/office/drawing/2014/main" id="{1A0C41AD-EBF1-44E4-BE15-0A9B59D5966F}"/>
                </a:ext>
              </a:extLst>
            </p:cNvPr>
            <p:cNvSpPr txBox="1">
              <a:spLocks/>
            </p:cNvSpPr>
            <p:nvPr/>
          </p:nvSpPr>
          <p:spPr>
            <a:xfrm>
              <a:off x="2669997" y="1628313"/>
              <a:ext cx="1831130" cy="825867"/>
            </a:xfrm>
            <a:prstGeom prst="rect">
              <a:avLst/>
            </a:prstGeom>
          </p:spPr>
          <p:txBody>
            <a:bodyPr vert="horz" wrap="square" lIns="0" tIns="1270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32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Simulation</a:t>
              </a:r>
            </a:p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20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Individual 10</a:t>
              </a:r>
            </a:p>
          </p:txBody>
        </p:sp>
      </p:grp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6BD08C03-E9BA-452C-BD04-AA5162E78250}"/>
              </a:ext>
            </a:extLst>
          </p:cNvPr>
          <p:cNvSpPr/>
          <p:nvPr/>
        </p:nvSpPr>
        <p:spPr>
          <a:xfrm>
            <a:off x="2252313" y="5333131"/>
            <a:ext cx="9450402" cy="1411606"/>
          </a:xfrm>
          <a:prstGeom prst="round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2" name="object 18">
            <a:extLst>
              <a:ext uri="{FF2B5EF4-FFF2-40B4-BE49-F238E27FC236}">
                <a16:creationId xmlns:a16="http://schemas.microsoft.com/office/drawing/2014/main" id="{725B58A8-8448-4EB1-BB94-EA4BA101D764}"/>
              </a:ext>
            </a:extLst>
          </p:cNvPr>
          <p:cNvSpPr txBox="1">
            <a:spLocks/>
          </p:cNvSpPr>
          <p:nvPr/>
        </p:nvSpPr>
        <p:spPr>
          <a:xfrm>
            <a:off x="0" y="5404144"/>
            <a:ext cx="2440154" cy="1269578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CPU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Main 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Thread 3</a:t>
            </a:r>
          </a:p>
        </p:txBody>
      </p: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93DC87BF-6622-4485-88A5-1413127FC124}"/>
              </a:ext>
            </a:extLst>
          </p:cNvPr>
          <p:cNvGrpSpPr/>
          <p:nvPr/>
        </p:nvGrpSpPr>
        <p:grpSpPr>
          <a:xfrm>
            <a:off x="4126483" y="5561706"/>
            <a:ext cx="2213809" cy="954454"/>
            <a:chOff x="2478658" y="1569794"/>
            <a:chExt cx="2213809" cy="954454"/>
          </a:xfrm>
        </p:grpSpPr>
        <p:sp>
          <p:nvSpPr>
            <p:cNvPr id="74" name="矩形: 圆角 73">
              <a:extLst>
                <a:ext uri="{FF2B5EF4-FFF2-40B4-BE49-F238E27FC236}">
                  <a16:creationId xmlns:a16="http://schemas.microsoft.com/office/drawing/2014/main" id="{368FA23A-798E-4448-B6E6-E2F641277A47}"/>
                </a:ext>
              </a:extLst>
            </p:cNvPr>
            <p:cNvSpPr/>
            <p:nvPr/>
          </p:nvSpPr>
          <p:spPr>
            <a:xfrm>
              <a:off x="2478658" y="1569794"/>
              <a:ext cx="2213809" cy="954454"/>
            </a:xfrm>
            <a:prstGeom prst="roundRect">
              <a:avLst/>
            </a:prstGeom>
            <a:noFill/>
            <a:ln w="28575">
              <a:gradFill flip="none" rotWithShape="1">
                <a:gsLst>
                  <a:gs pos="0">
                    <a:srgbClr val="7030A0"/>
                  </a:gs>
                  <a:gs pos="31000">
                    <a:srgbClr val="A32AD4"/>
                  </a:gs>
                  <a:gs pos="100000">
                    <a:srgbClr val="0070C0"/>
                  </a:gs>
                  <a:gs pos="67000">
                    <a:srgbClr val="00B0F0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5" name="object 18">
              <a:extLst>
                <a:ext uri="{FF2B5EF4-FFF2-40B4-BE49-F238E27FC236}">
                  <a16:creationId xmlns:a16="http://schemas.microsoft.com/office/drawing/2014/main" id="{200FCB7D-6CB3-49F9-AD17-5E6301320D12}"/>
                </a:ext>
              </a:extLst>
            </p:cNvPr>
            <p:cNvSpPr txBox="1">
              <a:spLocks/>
            </p:cNvSpPr>
            <p:nvPr/>
          </p:nvSpPr>
          <p:spPr>
            <a:xfrm>
              <a:off x="2669997" y="1628313"/>
              <a:ext cx="1831130" cy="825867"/>
            </a:xfrm>
            <a:prstGeom prst="rect">
              <a:avLst/>
            </a:prstGeom>
          </p:spPr>
          <p:txBody>
            <a:bodyPr vert="horz" wrap="square" lIns="0" tIns="1270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32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Simulation</a:t>
              </a:r>
            </a:p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20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Individual 3</a:t>
              </a:r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12E25345-A19A-4B95-A0F2-E10CE5243E32}"/>
              </a:ext>
            </a:extLst>
          </p:cNvPr>
          <p:cNvGrpSpPr/>
          <p:nvPr/>
        </p:nvGrpSpPr>
        <p:grpSpPr>
          <a:xfrm>
            <a:off x="6411530" y="5561706"/>
            <a:ext cx="2213809" cy="954454"/>
            <a:chOff x="2478658" y="1569794"/>
            <a:chExt cx="2213809" cy="954454"/>
          </a:xfrm>
        </p:grpSpPr>
        <p:sp>
          <p:nvSpPr>
            <p:cNvPr id="77" name="矩形: 圆角 76">
              <a:extLst>
                <a:ext uri="{FF2B5EF4-FFF2-40B4-BE49-F238E27FC236}">
                  <a16:creationId xmlns:a16="http://schemas.microsoft.com/office/drawing/2014/main" id="{37379E40-5660-4B05-82FA-FBB45E7C4411}"/>
                </a:ext>
              </a:extLst>
            </p:cNvPr>
            <p:cNvSpPr/>
            <p:nvPr/>
          </p:nvSpPr>
          <p:spPr>
            <a:xfrm>
              <a:off x="2478658" y="1569794"/>
              <a:ext cx="2213809" cy="954454"/>
            </a:xfrm>
            <a:prstGeom prst="roundRect">
              <a:avLst/>
            </a:prstGeom>
            <a:noFill/>
            <a:ln w="28575">
              <a:gradFill flip="none" rotWithShape="1">
                <a:gsLst>
                  <a:gs pos="0">
                    <a:srgbClr val="7030A0"/>
                  </a:gs>
                  <a:gs pos="31000">
                    <a:srgbClr val="A32AD4"/>
                  </a:gs>
                  <a:gs pos="100000">
                    <a:srgbClr val="0070C0"/>
                  </a:gs>
                  <a:gs pos="67000">
                    <a:srgbClr val="00B0F0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8" name="object 18">
              <a:extLst>
                <a:ext uri="{FF2B5EF4-FFF2-40B4-BE49-F238E27FC236}">
                  <a16:creationId xmlns:a16="http://schemas.microsoft.com/office/drawing/2014/main" id="{610C9548-DCA2-4DBD-8ADD-F443113B872F}"/>
                </a:ext>
              </a:extLst>
            </p:cNvPr>
            <p:cNvSpPr txBox="1">
              <a:spLocks/>
            </p:cNvSpPr>
            <p:nvPr/>
          </p:nvSpPr>
          <p:spPr>
            <a:xfrm>
              <a:off x="2669997" y="1628313"/>
              <a:ext cx="1831130" cy="825867"/>
            </a:xfrm>
            <a:prstGeom prst="rect">
              <a:avLst/>
            </a:prstGeom>
          </p:spPr>
          <p:txBody>
            <a:bodyPr vert="horz" wrap="square" lIns="0" tIns="1270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32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Simulation</a:t>
              </a:r>
            </a:p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20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Individual 7</a:t>
              </a: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86D6ECD5-63D1-458F-8BCD-C7A80993D208}"/>
              </a:ext>
            </a:extLst>
          </p:cNvPr>
          <p:cNvGrpSpPr/>
          <p:nvPr/>
        </p:nvGrpSpPr>
        <p:grpSpPr>
          <a:xfrm>
            <a:off x="8696577" y="5555931"/>
            <a:ext cx="2213809" cy="954454"/>
            <a:chOff x="2478658" y="1569794"/>
            <a:chExt cx="2213809" cy="954454"/>
          </a:xfrm>
        </p:grpSpPr>
        <p:sp>
          <p:nvSpPr>
            <p:cNvPr id="80" name="矩形: 圆角 79">
              <a:extLst>
                <a:ext uri="{FF2B5EF4-FFF2-40B4-BE49-F238E27FC236}">
                  <a16:creationId xmlns:a16="http://schemas.microsoft.com/office/drawing/2014/main" id="{F03E0F47-8F5C-4FC5-9FEC-D5377CA8C9A4}"/>
                </a:ext>
              </a:extLst>
            </p:cNvPr>
            <p:cNvSpPr/>
            <p:nvPr/>
          </p:nvSpPr>
          <p:spPr>
            <a:xfrm>
              <a:off x="2478658" y="1569794"/>
              <a:ext cx="2213809" cy="954454"/>
            </a:xfrm>
            <a:prstGeom prst="roundRect">
              <a:avLst/>
            </a:prstGeom>
            <a:noFill/>
            <a:ln w="28575">
              <a:gradFill flip="none" rotWithShape="1">
                <a:gsLst>
                  <a:gs pos="0">
                    <a:srgbClr val="7030A0"/>
                  </a:gs>
                  <a:gs pos="31000">
                    <a:srgbClr val="A32AD4"/>
                  </a:gs>
                  <a:gs pos="100000">
                    <a:srgbClr val="0070C0"/>
                  </a:gs>
                  <a:gs pos="67000">
                    <a:srgbClr val="00B0F0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1" name="object 18">
              <a:extLst>
                <a:ext uri="{FF2B5EF4-FFF2-40B4-BE49-F238E27FC236}">
                  <a16:creationId xmlns:a16="http://schemas.microsoft.com/office/drawing/2014/main" id="{B12649AD-C7A4-44E2-B936-DA41379D3682}"/>
                </a:ext>
              </a:extLst>
            </p:cNvPr>
            <p:cNvSpPr txBox="1">
              <a:spLocks/>
            </p:cNvSpPr>
            <p:nvPr/>
          </p:nvSpPr>
          <p:spPr>
            <a:xfrm>
              <a:off x="2669997" y="1628313"/>
              <a:ext cx="1831130" cy="825867"/>
            </a:xfrm>
            <a:prstGeom prst="rect">
              <a:avLst/>
            </a:prstGeom>
          </p:spPr>
          <p:txBody>
            <a:bodyPr vert="horz" wrap="square" lIns="0" tIns="1270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32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Simulation</a:t>
              </a:r>
            </a:p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2000" b="1" spc="-5" dirty="0">
                  <a:solidFill>
                    <a:schemeClr val="bg1"/>
                  </a:solidFill>
                  <a:effectLst>
                    <a:innerShdw blurRad="25400" dist="12700">
                      <a:prstClr val="black"/>
                    </a:innerShdw>
                  </a:effectLst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+mn-lt"/>
                </a:rPr>
                <a:t>Individual 11</a:t>
              </a:r>
            </a:p>
          </p:txBody>
        </p:sp>
      </p:grpSp>
      <p:sp>
        <p:nvSpPr>
          <p:cNvPr id="82" name="文本框 81">
            <a:extLst>
              <a:ext uri="{FF2B5EF4-FFF2-40B4-BE49-F238E27FC236}">
                <a16:creationId xmlns:a16="http://schemas.microsoft.com/office/drawing/2014/main" id="{2D38A355-2A21-4046-A5D9-1585DF0D7B53}"/>
              </a:ext>
            </a:extLst>
          </p:cNvPr>
          <p:cNvSpPr txBox="1"/>
          <p:nvPr/>
        </p:nvSpPr>
        <p:spPr>
          <a:xfrm>
            <a:off x="10452771" y="4070546"/>
            <a:ext cx="14884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···</a:t>
            </a:r>
            <a:endParaRPr lang="zh-CN" altLang="en-US" sz="4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5AC66EDA-0587-4115-AC65-326BFA1E168E}"/>
              </a:ext>
            </a:extLst>
          </p:cNvPr>
          <p:cNvSpPr txBox="1"/>
          <p:nvPr/>
        </p:nvSpPr>
        <p:spPr>
          <a:xfrm>
            <a:off x="10457803" y="5623434"/>
            <a:ext cx="14884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···</a:t>
            </a:r>
            <a:endParaRPr lang="zh-CN" altLang="en-US" sz="4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" name="object 18">
            <a:extLst>
              <a:ext uri="{FF2B5EF4-FFF2-40B4-BE49-F238E27FC236}">
                <a16:creationId xmlns:a16="http://schemas.microsoft.com/office/drawing/2014/main" id="{747C3F5D-9BF1-4771-8882-1F2781A2E3C6}"/>
              </a:ext>
            </a:extLst>
          </p:cNvPr>
          <p:cNvSpPr txBox="1">
            <a:spLocks/>
          </p:cNvSpPr>
          <p:nvPr/>
        </p:nvSpPr>
        <p:spPr>
          <a:xfrm>
            <a:off x="2182578" y="853517"/>
            <a:ext cx="2013770" cy="103618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CPU Sub-Thread 0-3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for </a:t>
            </a:r>
            <a:r>
              <a:rPr lang="en-US" sz="1600" b="1" spc="-5" dirty="0" err="1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PyTorch</a:t>
            </a:r>
            <a:r>
              <a:rPr lang="en-US" sz="16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to accelerate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matrix calculation</a:t>
            </a:r>
          </a:p>
        </p:txBody>
      </p:sp>
      <p:sp>
        <p:nvSpPr>
          <p:cNvPr id="86" name="object 18">
            <a:extLst>
              <a:ext uri="{FF2B5EF4-FFF2-40B4-BE49-F238E27FC236}">
                <a16:creationId xmlns:a16="http://schemas.microsoft.com/office/drawing/2014/main" id="{91F9C449-6A5E-42AA-A5EB-0F7EE231CB45}"/>
              </a:ext>
            </a:extLst>
          </p:cNvPr>
          <p:cNvSpPr txBox="1">
            <a:spLocks/>
          </p:cNvSpPr>
          <p:nvPr/>
        </p:nvSpPr>
        <p:spPr>
          <a:xfrm>
            <a:off x="2182578" y="2403518"/>
            <a:ext cx="2013770" cy="103618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CPU Sub-Thread 0-3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for </a:t>
            </a:r>
            <a:r>
              <a:rPr lang="en-US" sz="1600" b="1" spc="-5" dirty="0" err="1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PyTorch</a:t>
            </a:r>
            <a:r>
              <a:rPr lang="en-US" sz="16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to accelerate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matrix calculation</a:t>
            </a:r>
          </a:p>
        </p:txBody>
      </p:sp>
      <p:sp>
        <p:nvSpPr>
          <p:cNvPr id="87" name="object 18">
            <a:extLst>
              <a:ext uri="{FF2B5EF4-FFF2-40B4-BE49-F238E27FC236}">
                <a16:creationId xmlns:a16="http://schemas.microsoft.com/office/drawing/2014/main" id="{B5033530-75EF-41D7-84EF-02ED41FF92F9}"/>
              </a:ext>
            </a:extLst>
          </p:cNvPr>
          <p:cNvSpPr txBox="1">
            <a:spLocks/>
          </p:cNvSpPr>
          <p:nvPr/>
        </p:nvSpPr>
        <p:spPr>
          <a:xfrm>
            <a:off x="2182578" y="3967953"/>
            <a:ext cx="2013770" cy="103618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CPU Sub-Thread 0-3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for </a:t>
            </a:r>
            <a:r>
              <a:rPr lang="en-US" sz="1600" b="1" spc="-5" dirty="0" err="1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PyTorch</a:t>
            </a:r>
            <a:r>
              <a:rPr lang="en-US" sz="16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to accelerate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matrix calculation</a:t>
            </a:r>
          </a:p>
        </p:txBody>
      </p:sp>
      <p:sp>
        <p:nvSpPr>
          <p:cNvPr id="88" name="object 18">
            <a:extLst>
              <a:ext uri="{FF2B5EF4-FFF2-40B4-BE49-F238E27FC236}">
                <a16:creationId xmlns:a16="http://schemas.microsoft.com/office/drawing/2014/main" id="{1EFBB1B8-AB34-4070-B30E-EB2715EA617E}"/>
              </a:ext>
            </a:extLst>
          </p:cNvPr>
          <p:cNvSpPr txBox="1">
            <a:spLocks/>
          </p:cNvSpPr>
          <p:nvPr/>
        </p:nvSpPr>
        <p:spPr>
          <a:xfrm>
            <a:off x="2182578" y="5520841"/>
            <a:ext cx="2013770" cy="103618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CPU Sub-Thread 0-3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for </a:t>
            </a:r>
            <a:r>
              <a:rPr lang="en-US" sz="1600" b="1" spc="-5" dirty="0" err="1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PyTorch</a:t>
            </a:r>
            <a:r>
              <a:rPr lang="en-US" sz="16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to accelerate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matrix calculation</a:t>
            </a:r>
          </a:p>
        </p:txBody>
      </p:sp>
    </p:spTree>
    <p:extLst>
      <p:ext uri="{BB962C8B-B14F-4D97-AF65-F5344CB8AC3E}">
        <p14:creationId xmlns:p14="http://schemas.microsoft.com/office/powerpoint/2010/main" val="1206695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9B882B7-8C3B-4F22-A224-6ECF8E442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49309" cy="600075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706D9124-8138-4404-8601-710D08E9A1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780" y="71437"/>
            <a:ext cx="9994439" cy="671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386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9B882B7-8C3B-4F22-A224-6ECF8E442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49309" cy="600075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6E076F3-07AF-418F-8006-0674381742AE}"/>
              </a:ext>
            </a:extLst>
          </p:cNvPr>
          <p:cNvCxnSpPr>
            <a:cxnSpLocks/>
            <a:endCxn id="18" idx="2"/>
          </p:cNvCxnSpPr>
          <p:nvPr/>
        </p:nvCxnSpPr>
        <p:spPr>
          <a:xfrm flipH="1" flipV="1">
            <a:off x="2084388" y="1094580"/>
            <a:ext cx="3072" cy="4875652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5DF3D945-6574-4992-8732-0176DEC5F261}"/>
              </a:ext>
            </a:extLst>
          </p:cNvPr>
          <p:cNvCxnSpPr>
            <a:cxnSpLocks/>
          </p:cNvCxnSpPr>
          <p:nvPr/>
        </p:nvCxnSpPr>
        <p:spPr>
          <a:xfrm>
            <a:off x="2087459" y="5970231"/>
            <a:ext cx="6938866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5AE1132B-750B-4C7D-A141-16A27D564426}"/>
              </a:ext>
            </a:extLst>
          </p:cNvPr>
          <p:cNvSpPr/>
          <p:nvPr/>
        </p:nvSpPr>
        <p:spPr>
          <a:xfrm>
            <a:off x="2087457" y="4991100"/>
            <a:ext cx="6367757" cy="996359"/>
          </a:xfrm>
          <a:custGeom>
            <a:avLst/>
            <a:gdLst>
              <a:gd name="connsiteX0" fmla="*/ 0 w 3619500"/>
              <a:gd name="connsiteY0" fmla="*/ 3040297 h 3040297"/>
              <a:gd name="connsiteX1" fmla="*/ 695325 w 3619500"/>
              <a:gd name="connsiteY1" fmla="*/ 1240072 h 3040297"/>
              <a:gd name="connsiteX2" fmla="*/ 1419225 w 3619500"/>
              <a:gd name="connsiteY2" fmla="*/ 344722 h 3040297"/>
              <a:gd name="connsiteX3" fmla="*/ 2486025 w 3619500"/>
              <a:gd name="connsiteY3" fmla="*/ 1822 h 3040297"/>
              <a:gd name="connsiteX4" fmla="*/ 3619500 w 3619500"/>
              <a:gd name="connsiteY4" fmla="*/ 468547 h 3040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19500" h="3040297">
                <a:moveTo>
                  <a:pt x="0" y="3040297"/>
                </a:moveTo>
                <a:cubicBezTo>
                  <a:pt x="229394" y="2364815"/>
                  <a:pt x="458788" y="1689334"/>
                  <a:pt x="695325" y="1240072"/>
                </a:cubicBezTo>
                <a:cubicBezTo>
                  <a:pt x="931862" y="790810"/>
                  <a:pt x="1120775" y="551097"/>
                  <a:pt x="1419225" y="344722"/>
                </a:cubicBezTo>
                <a:cubicBezTo>
                  <a:pt x="1717675" y="138347"/>
                  <a:pt x="2119313" y="-18816"/>
                  <a:pt x="2486025" y="1822"/>
                </a:cubicBezTo>
                <a:cubicBezTo>
                  <a:pt x="2852738" y="22459"/>
                  <a:pt x="3236119" y="245503"/>
                  <a:pt x="3619500" y="468547"/>
                </a:cubicBezTo>
              </a:path>
            </a:pathLst>
          </a:custGeom>
          <a:noFill/>
          <a:ln w="57150">
            <a:gradFill flip="none" rotWithShape="1">
              <a:gsLst>
                <a:gs pos="22000">
                  <a:srgbClr val="A32AD4"/>
                </a:gs>
                <a:gs pos="62000">
                  <a:schemeClr val="accent2"/>
                </a:gs>
                <a:gs pos="100000">
                  <a:srgbClr val="00B050"/>
                </a:gs>
              </a:gsLst>
              <a:lin ang="189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object 18">
            <a:extLst>
              <a:ext uri="{FF2B5EF4-FFF2-40B4-BE49-F238E27FC236}">
                <a16:creationId xmlns:a16="http://schemas.microsoft.com/office/drawing/2014/main" id="{16812D6F-28C3-4570-B15A-BAD5D47348AF}"/>
              </a:ext>
            </a:extLst>
          </p:cNvPr>
          <p:cNvSpPr txBox="1">
            <a:spLocks/>
          </p:cNvSpPr>
          <p:nvPr/>
        </p:nvSpPr>
        <p:spPr>
          <a:xfrm>
            <a:off x="8864789" y="5717597"/>
            <a:ext cx="2295525" cy="50526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CPU Cores</a:t>
            </a: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13405E0C-8C6B-45AE-AEBF-94247F438423}"/>
              </a:ext>
            </a:extLst>
          </p:cNvPr>
          <p:cNvSpPr txBox="1">
            <a:spLocks/>
          </p:cNvSpPr>
          <p:nvPr/>
        </p:nvSpPr>
        <p:spPr>
          <a:xfrm>
            <a:off x="936625" y="589313"/>
            <a:ext cx="2295525" cy="50526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Efficiency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4955BF0-5F52-4DAF-BA35-9CFE49F9BB16}"/>
              </a:ext>
            </a:extLst>
          </p:cNvPr>
          <p:cNvCxnSpPr>
            <a:cxnSpLocks/>
            <a:stCxn id="16" idx="3"/>
          </p:cNvCxnSpPr>
          <p:nvPr/>
        </p:nvCxnSpPr>
        <p:spPr>
          <a:xfrm flipH="1">
            <a:off x="6454965" y="4991697"/>
            <a:ext cx="6136" cy="995763"/>
          </a:xfrm>
          <a:prstGeom prst="line">
            <a:avLst/>
          </a:prstGeom>
          <a:ln w="38100">
            <a:solidFill>
              <a:srgbClr val="0070C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D681FAB-0493-4225-9241-9D365BB98FDB}"/>
              </a:ext>
            </a:extLst>
          </p:cNvPr>
          <p:cNvCxnSpPr>
            <a:cxnSpLocks/>
            <a:stCxn id="16" idx="3"/>
          </p:cNvCxnSpPr>
          <p:nvPr/>
        </p:nvCxnSpPr>
        <p:spPr>
          <a:xfrm flipH="1" flipV="1">
            <a:off x="2084387" y="4991099"/>
            <a:ext cx="4376714" cy="598"/>
          </a:xfrm>
          <a:prstGeom prst="line">
            <a:avLst/>
          </a:prstGeom>
          <a:ln w="38100">
            <a:solidFill>
              <a:srgbClr val="0070C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BBE70501-B13E-46EB-A7A0-1B7770D5D752}"/>
              </a:ext>
            </a:extLst>
          </p:cNvPr>
          <p:cNvSpPr/>
          <p:nvPr/>
        </p:nvSpPr>
        <p:spPr>
          <a:xfrm>
            <a:off x="6282269" y="4809198"/>
            <a:ext cx="363802" cy="363802"/>
          </a:xfrm>
          <a:prstGeom prst="ellipse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287339B-7216-4A19-AC53-F9A37E49DDAB}"/>
              </a:ext>
            </a:extLst>
          </p:cNvPr>
          <p:cNvCxnSpPr>
            <a:cxnSpLocks/>
          </p:cNvCxnSpPr>
          <p:nvPr/>
        </p:nvCxnSpPr>
        <p:spPr>
          <a:xfrm flipH="1" flipV="1">
            <a:off x="6454965" y="2295525"/>
            <a:ext cx="2" cy="2422723"/>
          </a:xfrm>
          <a:prstGeom prst="straightConnector1">
            <a:avLst/>
          </a:prstGeom>
          <a:ln w="57150">
            <a:solidFill>
              <a:srgbClr val="FF33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bject 18">
            <a:extLst>
              <a:ext uri="{FF2B5EF4-FFF2-40B4-BE49-F238E27FC236}">
                <a16:creationId xmlns:a16="http://schemas.microsoft.com/office/drawing/2014/main" id="{F16CF1E5-208F-4C90-9098-DE6A1E441CEC}"/>
              </a:ext>
            </a:extLst>
          </p:cNvPr>
          <p:cNvSpPr txBox="1">
            <a:spLocks/>
          </p:cNvSpPr>
          <p:nvPr/>
        </p:nvSpPr>
        <p:spPr>
          <a:xfrm>
            <a:off x="5316407" y="6151534"/>
            <a:ext cx="2295525" cy="38215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16 Cores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B044D2BF-5287-4012-8E17-C589CC954F0F}"/>
              </a:ext>
            </a:extLst>
          </p:cNvPr>
          <p:cNvSpPr/>
          <p:nvPr/>
        </p:nvSpPr>
        <p:spPr>
          <a:xfrm>
            <a:off x="6267968" y="1866901"/>
            <a:ext cx="363802" cy="363802"/>
          </a:xfrm>
          <a:prstGeom prst="ellipse">
            <a:avLst/>
          </a:prstGeom>
          <a:noFill/>
          <a:ln w="57150"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D6CD58B-3C9F-4318-B6D5-CF5E1BA73B6A}"/>
              </a:ext>
            </a:extLst>
          </p:cNvPr>
          <p:cNvCxnSpPr>
            <a:cxnSpLocks/>
            <a:stCxn id="22" idx="2"/>
          </p:cNvCxnSpPr>
          <p:nvPr/>
        </p:nvCxnSpPr>
        <p:spPr>
          <a:xfrm flipH="1" flipV="1">
            <a:off x="2120108" y="2048204"/>
            <a:ext cx="4147860" cy="598"/>
          </a:xfrm>
          <a:prstGeom prst="line">
            <a:avLst/>
          </a:prstGeom>
          <a:ln w="38100">
            <a:solidFill>
              <a:srgbClr val="FF3399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bject 18">
            <a:extLst>
              <a:ext uri="{FF2B5EF4-FFF2-40B4-BE49-F238E27FC236}">
                <a16:creationId xmlns:a16="http://schemas.microsoft.com/office/drawing/2014/main" id="{A4E7F53D-2B82-4FB4-8E32-56CB9D5BFAE9}"/>
              </a:ext>
            </a:extLst>
          </p:cNvPr>
          <p:cNvSpPr txBox="1">
            <a:spLocks/>
          </p:cNvSpPr>
          <p:nvPr/>
        </p:nvSpPr>
        <p:spPr>
          <a:xfrm>
            <a:off x="1060892" y="4800021"/>
            <a:ext cx="1059216" cy="38215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1x</a:t>
            </a:r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C5F42C4D-4C7F-4375-8FD7-B3E656AB9A2C}"/>
              </a:ext>
            </a:extLst>
          </p:cNvPr>
          <p:cNvSpPr txBox="1">
            <a:spLocks/>
          </p:cNvSpPr>
          <p:nvPr/>
        </p:nvSpPr>
        <p:spPr>
          <a:xfrm>
            <a:off x="402431" y="1608974"/>
            <a:ext cx="1649309" cy="84382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54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5x +</a:t>
            </a:r>
          </a:p>
        </p:txBody>
      </p:sp>
    </p:spTree>
    <p:extLst>
      <p:ext uri="{BB962C8B-B14F-4D97-AF65-F5344CB8AC3E}">
        <p14:creationId xmlns:p14="http://schemas.microsoft.com/office/powerpoint/2010/main" val="22155244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9B882B7-8C3B-4F22-A224-6ECF8E442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49309" cy="600075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6E076F3-07AF-418F-8006-0674381742AE}"/>
              </a:ext>
            </a:extLst>
          </p:cNvPr>
          <p:cNvCxnSpPr>
            <a:cxnSpLocks/>
            <a:endCxn id="18" idx="2"/>
          </p:cNvCxnSpPr>
          <p:nvPr/>
        </p:nvCxnSpPr>
        <p:spPr>
          <a:xfrm flipH="1" flipV="1">
            <a:off x="2084388" y="1094580"/>
            <a:ext cx="3072" cy="4875652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5DF3D945-6574-4992-8732-0176DEC5F261}"/>
              </a:ext>
            </a:extLst>
          </p:cNvPr>
          <p:cNvCxnSpPr>
            <a:cxnSpLocks/>
          </p:cNvCxnSpPr>
          <p:nvPr/>
        </p:nvCxnSpPr>
        <p:spPr>
          <a:xfrm>
            <a:off x="2087459" y="5970231"/>
            <a:ext cx="6938866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5AE1132B-750B-4C7D-A141-16A27D564426}"/>
              </a:ext>
            </a:extLst>
          </p:cNvPr>
          <p:cNvSpPr/>
          <p:nvPr/>
        </p:nvSpPr>
        <p:spPr>
          <a:xfrm>
            <a:off x="2087457" y="4991100"/>
            <a:ext cx="6367757" cy="996359"/>
          </a:xfrm>
          <a:custGeom>
            <a:avLst/>
            <a:gdLst>
              <a:gd name="connsiteX0" fmla="*/ 0 w 3619500"/>
              <a:gd name="connsiteY0" fmla="*/ 3040297 h 3040297"/>
              <a:gd name="connsiteX1" fmla="*/ 695325 w 3619500"/>
              <a:gd name="connsiteY1" fmla="*/ 1240072 h 3040297"/>
              <a:gd name="connsiteX2" fmla="*/ 1419225 w 3619500"/>
              <a:gd name="connsiteY2" fmla="*/ 344722 h 3040297"/>
              <a:gd name="connsiteX3" fmla="*/ 2486025 w 3619500"/>
              <a:gd name="connsiteY3" fmla="*/ 1822 h 3040297"/>
              <a:gd name="connsiteX4" fmla="*/ 3619500 w 3619500"/>
              <a:gd name="connsiteY4" fmla="*/ 468547 h 3040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19500" h="3040297">
                <a:moveTo>
                  <a:pt x="0" y="3040297"/>
                </a:moveTo>
                <a:cubicBezTo>
                  <a:pt x="229394" y="2364815"/>
                  <a:pt x="458788" y="1689334"/>
                  <a:pt x="695325" y="1240072"/>
                </a:cubicBezTo>
                <a:cubicBezTo>
                  <a:pt x="931862" y="790810"/>
                  <a:pt x="1120775" y="551097"/>
                  <a:pt x="1419225" y="344722"/>
                </a:cubicBezTo>
                <a:cubicBezTo>
                  <a:pt x="1717675" y="138347"/>
                  <a:pt x="2119313" y="-18816"/>
                  <a:pt x="2486025" y="1822"/>
                </a:cubicBezTo>
                <a:cubicBezTo>
                  <a:pt x="2852738" y="22459"/>
                  <a:pt x="3236119" y="245503"/>
                  <a:pt x="3619500" y="468547"/>
                </a:cubicBezTo>
              </a:path>
            </a:pathLst>
          </a:custGeom>
          <a:noFill/>
          <a:ln w="57150">
            <a:gradFill flip="none" rotWithShape="1">
              <a:gsLst>
                <a:gs pos="22000">
                  <a:srgbClr val="A32AD4"/>
                </a:gs>
                <a:gs pos="62000">
                  <a:schemeClr val="accent2"/>
                </a:gs>
                <a:gs pos="100000">
                  <a:srgbClr val="00B050"/>
                </a:gs>
              </a:gsLst>
              <a:lin ang="189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object 18">
            <a:extLst>
              <a:ext uri="{FF2B5EF4-FFF2-40B4-BE49-F238E27FC236}">
                <a16:creationId xmlns:a16="http://schemas.microsoft.com/office/drawing/2014/main" id="{16812D6F-28C3-4570-B15A-BAD5D47348AF}"/>
              </a:ext>
            </a:extLst>
          </p:cNvPr>
          <p:cNvSpPr txBox="1">
            <a:spLocks/>
          </p:cNvSpPr>
          <p:nvPr/>
        </p:nvSpPr>
        <p:spPr>
          <a:xfrm>
            <a:off x="8864789" y="5717597"/>
            <a:ext cx="2295525" cy="50526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CPU Cores</a:t>
            </a: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13405E0C-8C6B-45AE-AEBF-94247F438423}"/>
              </a:ext>
            </a:extLst>
          </p:cNvPr>
          <p:cNvSpPr txBox="1">
            <a:spLocks/>
          </p:cNvSpPr>
          <p:nvPr/>
        </p:nvSpPr>
        <p:spPr>
          <a:xfrm>
            <a:off x="936625" y="589313"/>
            <a:ext cx="2295525" cy="50526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Efficiency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4955BF0-5F52-4DAF-BA35-9CFE49F9BB16}"/>
              </a:ext>
            </a:extLst>
          </p:cNvPr>
          <p:cNvCxnSpPr>
            <a:cxnSpLocks/>
            <a:stCxn id="16" idx="3"/>
          </p:cNvCxnSpPr>
          <p:nvPr/>
        </p:nvCxnSpPr>
        <p:spPr>
          <a:xfrm flipH="1">
            <a:off x="6454965" y="4991697"/>
            <a:ext cx="6136" cy="995763"/>
          </a:xfrm>
          <a:prstGeom prst="line">
            <a:avLst/>
          </a:prstGeom>
          <a:ln w="38100">
            <a:solidFill>
              <a:srgbClr val="0070C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D681FAB-0493-4225-9241-9D365BB98FDB}"/>
              </a:ext>
            </a:extLst>
          </p:cNvPr>
          <p:cNvCxnSpPr>
            <a:cxnSpLocks/>
            <a:stCxn id="16" idx="3"/>
          </p:cNvCxnSpPr>
          <p:nvPr/>
        </p:nvCxnSpPr>
        <p:spPr>
          <a:xfrm flipH="1" flipV="1">
            <a:off x="2084387" y="4991099"/>
            <a:ext cx="4376714" cy="598"/>
          </a:xfrm>
          <a:prstGeom prst="line">
            <a:avLst/>
          </a:prstGeom>
          <a:ln w="38100">
            <a:solidFill>
              <a:srgbClr val="0070C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BBE70501-B13E-46EB-A7A0-1B7770D5D752}"/>
              </a:ext>
            </a:extLst>
          </p:cNvPr>
          <p:cNvSpPr/>
          <p:nvPr/>
        </p:nvSpPr>
        <p:spPr>
          <a:xfrm>
            <a:off x="6282269" y="4809198"/>
            <a:ext cx="363802" cy="363802"/>
          </a:xfrm>
          <a:prstGeom prst="ellipse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287339B-7216-4A19-AC53-F9A37E49DDAB}"/>
              </a:ext>
            </a:extLst>
          </p:cNvPr>
          <p:cNvCxnSpPr>
            <a:cxnSpLocks/>
          </p:cNvCxnSpPr>
          <p:nvPr/>
        </p:nvCxnSpPr>
        <p:spPr>
          <a:xfrm flipH="1" flipV="1">
            <a:off x="6454965" y="2295525"/>
            <a:ext cx="2" cy="2422723"/>
          </a:xfrm>
          <a:prstGeom prst="straightConnector1">
            <a:avLst/>
          </a:prstGeom>
          <a:ln w="57150">
            <a:solidFill>
              <a:srgbClr val="FF33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bject 18">
            <a:extLst>
              <a:ext uri="{FF2B5EF4-FFF2-40B4-BE49-F238E27FC236}">
                <a16:creationId xmlns:a16="http://schemas.microsoft.com/office/drawing/2014/main" id="{F16CF1E5-208F-4C90-9098-DE6A1E441CEC}"/>
              </a:ext>
            </a:extLst>
          </p:cNvPr>
          <p:cNvSpPr txBox="1">
            <a:spLocks/>
          </p:cNvSpPr>
          <p:nvPr/>
        </p:nvSpPr>
        <p:spPr>
          <a:xfrm>
            <a:off x="5316407" y="6151534"/>
            <a:ext cx="2295525" cy="38215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16 Cores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B044D2BF-5287-4012-8E17-C589CC954F0F}"/>
              </a:ext>
            </a:extLst>
          </p:cNvPr>
          <p:cNvSpPr/>
          <p:nvPr/>
        </p:nvSpPr>
        <p:spPr>
          <a:xfrm>
            <a:off x="6267968" y="1866901"/>
            <a:ext cx="363802" cy="363802"/>
          </a:xfrm>
          <a:prstGeom prst="ellipse">
            <a:avLst/>
          </a:prstGeom>
          <a:noFill/>
          <a:ln w="57150"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D6CD58B-3C9F-4318-B6D5-CF5E1BA73B6A}"/>
              </a:ext>
            </a:extLst>
          </p:cNvPr>
          <p:cNvCxnSpPr>
            <a:cxnSpLocks/>
            <a:stCxn id="22" idx="2"/>
          </p:cNvCxnSpPr>
          <p:nvPr/>
        </p:nvCxnSpPr>
        <p:spPr>
          <a:xfrm flipH="1" flipV="1">
            <a:off x="2120108" y="2048204"/>
            <a:ext cx="4147860" cy="598"/>
          </a:xfrm>
          <a:prstGeom prst="line">
            <a:avLst/>
          </a:prstGeom>
          <a:ln w="38100">
            <a:solidFill>
              <a:srgbClr val="FF3399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bject 18">
            <a:extLst>
              <a:ext uri="{FF2B5EF4-FFF2-40B4-BE49-F238E27FC236}">
                <a16:creationId xmlns:a16="http://schemas.microsoft.com/office/drawing/2014/main" id="{A4E7F53D-2B82-4FB4-8E32-56CB9D5BFAE9}"/>
              </a:ext>
            </a:extLst>
          </p:cNvPr>
          <p:cNvSpPr txBox="1">
            <a:spLocks/>
          </p:cNvSpPr>
          <p:nvPr/>
        </p:nvSpPr>
        <p:spPr>
          <a:xfrm>
            <a:off x="1060892" y="4800021"/>
            <a:ext cx="1059216" cy="38215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1x</a:t>
            </a:r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C5F42C4D-4C7F-4375-8FD7-B3E656AB9A2C}"/>
              </a:ext>
            </a:extLst>
          </p:cNvPr>
          <p:cNvSpPr txBox="1">
            <a:spLocks/>
          </p:cNvSpPr>
          <p:nvPr/>
        </p:nvSpPr>
        <p:spPr>
          <a:xfrm>
            <a:off x="402431" y="1608974"/>
            <a:ext cx="1649309" cy="84382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54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5x +</a:t>
            </a:r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CA12A6DC-2A25-47C6-BEC8-0414E18FF9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16726" y="2230703"/>
            <a:ext cx="4807755" cy="1736373"/>
          </a:xfrm>
          <a:prstGeom prst="rect">
            <a:avLst/>
          </a:prstGeom>
          <a:solidFill>
            <a:schemeClr val="tx1">
              <a:alpha val="71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altLang="zh-CN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Save Over </a:t>
            </a:r>
            <a:r>
              <a:rPr lang="en-US" altLang="zh-CN" sz="8000" b="1" spc="-5" dirty="0">
                <a:gradFill flip="none" rotWithShape="1">
                  <a:gsLst>
                    <a:gs pos="7000">
                      <a:srgbClr val="FFC000"/>
                    </a:gs>
                    <a:gs pos="86000">
                      <a:srgbClr val="7030A0">
                        <a:lumMod val="82000"/>
                        <a:lumOff val="18000"/>
                      </a:srgbClr>
                    </a:gs>
                    <a:gs pos="41000">
                      <a:srgbClr val="FF3399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80%</a:t>
            </a:r>
            <a:r>
              <a:rPr lang="en-US" altLang="zh-CN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</a:t>
            </a:r>
            <a:r>
              <a:rPr lang="en-US" altLang="zh-CN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of </a:t>
            </a:r>
            <a:br>
              <a:rPr lang="en-US" altLang="zh-CN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</a:br>
            <a:r>
              <a:rPr lang="en-US" altLang="zh-CN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Total Execution Time</a:t>
            </a:r>
            <a:endParaRPr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3332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18">
            <a:extLst>
              <a:ext uri="{FF2B5EF4-FFF2-40B4-BE49-F238E27FC236}">
                <a16:creationId xmlns:a16="http://schemas.microsoft.com/office/drawing/2014/main" id="{B1B3FE77-B3CC-8BBF-76CA-8D7491B49D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8687" y="747491"/>
            <a:ext cx="1033462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Interesting Blogs and GitHub Projects</a:t>
            </a:r>
            <a:endParaRPr sz="32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9B882B7-8C3B-4F22-A224-6ECF8E442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49309" cy="600075"/>
          </a:xfrm>
          <a:prstGeom prst="rect">
            <a:avLst/>
          </a:prstGeom>
        </p:spPr>
      </p:pic>
      <p:sp>
        <p:nvSpPr>
          <p:cNvPr id="5" name="object 18">
            <a:extLst>
              <a:ext uri="{FF2B5EF4-FFF2-40B4-BE49-F238E27FC236}">
                <a16:creationId xmlns:a16="http://schemas.microsoft.com/office/drawing/2014/main" id="{D3FC18F3-1777-472D-83CE-607C213C1B63}"/>
              </a:ext>
            </a:extLst>
          </p:cNvPr>
          <p:cNvSpPr txBox="1">
            <a:spLocks/>
          </p:cNvSpPr>
          <p:nvPr/>
        </p:nvSpPr>
        <p:spPr>
          <a:xfrm>
            <a:off x="450055" y="2065406"/>
            <a:ext cx="11291888" cy="320344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-720000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How to accelerate matrix calculation</a:t>
            </a:r>
          </a:p>
          <a:p>
            <a:pPr indent="-720000">
              <a:lnSpc>
                <a:spcPct val="100000"/>
              </a:lnSpc>
              <a:spcBef>
                <a:spcPts val="100"/>
              </a:spcBef>
            </a:pPr>
            <a:endParaRPr lang="en-US" sz="32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  <a:p>
            <a:pPr indent="-720000">
              <a:lnSpc>
                <a:spcPct val="100000"/>
              </a:lnSpc>
              <a:spcBef>
                <a:spcPts val="100"/>
              </a:spcBef>
            </a:pPr>
            <a:r>
              <a:rPr lang="en-US" altLang="zh-CN" sz="2800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· </a:t>
            </a:r>
            <a:r>
              <a:rPr lang="en-US" altLang="zh-CN" sz="2800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https://github.com/flame/how-to-optimize-gemm/wiki</a:t>
            </a:r>
            <a:endParaRPr lang="en-US" altLang="zh-CN" sz="2800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  <a:p>
            <a:pPr indent="-720000">
              <a:lnSpc>
                <a:spcPct val="100000"/>
              </a:lnSpc>
              <a:spcBef>
                <a:spcPts val="100"/>
              </a:spcBef>
            </a:pPr>
            <a:r>
              <a:rPr lang="en-US" altLang="zh-CN" sz="2800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· </a:t>
            </a:r>
            <a:r>
              <a:rPr lang="en-US" altLang="zh-CN" sz="2800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http://technicaldiscovery.blogspot.com/2011/06/speeding-up-python-numpy-cython-and.html</a:t>
            </a:r>
            <a:endParaRPr lang="en-US" altLang="zh-CN" sz="2800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  <a:p>
            <a:pPr indent="-720000">
              <a:lnSpc>
                <a:spcPct val="100000"/>
              </a:lnSpc>
              <a:spcBef>
                <a:spcPts val="100"/>
              </a:spcBef>
            </a:pPr>
            <a:r>
              <a:rPr lang="en-US" altLang="zh-CN" sz="2800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· </a:t>
            </a:r>
            <a:r>
              <a:rPr lang="en-US" altLang="zh-CN" sz="2800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https://scipy.github.io/old-wiki/pages/PerformancePython.html#An_implementation_in_C.2B-.2B-</a:t>
            </a:r>
            <a:endParaRPr lang="en-US" altLang="zh-CN" sz="2800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16899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18">
            <a:extLst>
              <a:ext uri="{FF2B5EF4-FFF2-40B4-BE49-F238E27FC236}">
                <a16:creationId xmlns:a16="http://schemas.microsoft.com/office/drawing/2014/main" id="{B1B3FE77-B3CC-8BBF-76CA-8D7491B49D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8687" y="747491"/>
            <a:ext cx="1033462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Interesting Blogs and GitHub Projects</a:t>
            </a:r>
            <a:endParaRPr sz="32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9B882B7-8C3B-4F22-A224-6ECF8E442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49309" cy="600075"/>
          </a:xfrm>
          <a:prstGeom prst="rect">
            <a:avLst/>
          </a:prstGeom>
        </p:spPr>
      </p:pic>
      <p:sp>
        <p:nvSpPr>
          <p:cNvPr id="5" name="object 18">
            <a:extLst>
              <a:ext uri="{FF2B5EF4-FFF2-40B4-BE49-F238E27FC236}">
                <a16:creationId xmlns:a16="http://schemas.microsoft.com/office/drawing/2014/main" id="{D3FC18F3-1777-472D-83CE-607C213C1B63}"/>
              </a:ext>
            </a:extLst>
          </p:cNvPr>
          <p:cNvSpPr txBox="1">
            <a:spLocks/>
          </p:cNvSpPr>
          <p:nvPr/>
        </p:nvSpPr>
        <p:spPr>
          <a:xfrm>
            <a:off x="450055" y="2287262"/>
            <a:ext cx="11291888" cy="275973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-720000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Implementing </a:t>
            </a:r>
            <a:r>
              <a:rPr lang="en-US" sz="3200" b="1" spc="-5" dirty="0" err="1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PyTorch</a:t>
            </a: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 Operators with CUDA</a:t>
            </a:r>
          </a:p>
          <a:p>
            <a:pPr indent="-720000">
              <a:lnSpc>
                <a:spcPct val="100000"/>
              </a:lnSpc>
              <a:spcBef>
                <a:spcPts val="100"/>
              </a:spcBef>
            </a:pPr>
            <a:endParaRPr lang="en-US" sz="32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  <a:p>
            <a:pPr indent="-720000">
              <a:lnSpc>
                <a:spcPct val="100000"/>
              </a:lnSpc>
              <a:spcBef>
                <a:spcPts val="100"/>
              </a:spcBef>
            </a:pPr>
            <a:r>
              <a:rPr lang="en-US" altLang="zh-CN" sz="2800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· </a:t>
            </a:r>
            <a:r>
              <a:rPr lang="en-US" altLang="zh-CN" sz="2800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https://zhuanlan.zhihu.com/p/595851188?utm_campaign=shareopn&amp;utm_content=group3_article&amp;utm_medium=social&amp;utm_psn=1779857889484021760&amp;utm_source=wechat_session</a:t>
            </a:r>
            <a:endParaRPr lang="en-US" altLang="zh-CN" sz="2800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  <a:p>
            <a:pPr indent="-720000">
              <a:lnSpc>
                <a:spcPct val="100000"/>
              </a:lnSpc>
              <a:spcBef>
                <a:spcPts val="100"/>
              </a:spcBef>
            </a:pPr>
            <a:r>
              <a:rPr lang="en-US" altLang="zh-CN" sz="2800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· </a:t>
            </a:r>
            <a:r>
              <a:rPr lang="en-US" altLang="zh-CN" sz="2800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https://github.com/YuxueYang1204/CudaDemo/tree/main</a:t>
            </a:r>
            <a:endParaRPr lang="en-US" altLang="zh-CN" sz="2800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761896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18">
            <a:extLst>
              <a:ext uri="{FF2B5EF4-FFF2-40B4-BE49-F238E27FC236}">
                <a16:creationId xmlns:a16="http://schemas.microsoft.com/office/drawing/2014/main" id="{B1B3FE77-B3CC-8BBF-76CA-8D7491B49D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8687" y="747491"/>
            <a:ext cx="1033462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Interesting Blogs and GitHub Projects</a:t>
            </a:r>
            <a:endParaRPr sz="3200" b="1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9B882B7-8C3B-4F22-A224-6ECF8E4423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649309" cy="600075"/>
          </a:xfrm>
          <a:prstGeom prst="rect">
            <a:avLst/>
          </a:prstGeom>
        </p:spPr>
      </p:pic>
      <p:sp>
        <p:nvSpPr>
          <p:cNvPr id="5" name="object 18">
            <a:extLst>
              <a:ext uri="{FF2B5EF4-FFF2-40B4-BE49-F238E27FC236}">
                <a16:creationId xmlns:a16="http://schemas.microsoft.com/office/drawing/2014/main" id="{D3FC18F3-1777-472D-83CE-607C213C1B63}"/>
              </a:ext>
            </a:extLst>
          </p:cNvPr>
          <p:cNvSpPr txBox="1">
            <a:spLocks/>
          </p:cNvSpPr>
          <p:nvPr/>
        </p:nvSpPr>
        <p:spPr>
          <a:xfrm>
            <a:off x="450055" y="1354174"/>
            <a:ext cx="11291888" cy="82586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-720000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Bend : A PARALLEL LANGUAGE on CUDA, feels just like Python</a:t>
            </a:r>
          </a:p>
          <a:p>
            <a:pPr indent="-720000">
              <a:lnSpc>
                <a:spcPct val="100000"/>
              </a:lnSpc>
              <a:spcBef>
                <a:spcPts val="100"/>
              </a:spcBef>
            </a:pPr>
            <a:r>
              <a:rPr lang="en-US" sz="2000" spc="-5" dirty="0">
                <a:solidFill>
                  <a:schemeClr val="bg1"/>
                </a:soli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https://higherorderco.com/ </a:t>
            </a:r>
            <a:endParaRPr lang="en-US" altLang="zh-CN" sz="1800" spc="-5" dirty="0">
              <a:solidFill>
                <a:schemeClr val="bg1"/>
              </a:soli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F50A410-8340-45E9-BC47-68301B429A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378" y="2180041"/>
            <a:ext cx="5566621" cy="4499502"/>
          </a:xfrm>
          <a:prstGeom prst="rect">
            <a:avLst/>
          </a:prstGeom>
        </p:spPr>
      </p:pic>
      <p:pic>
        <p:nvPicPr>
          <p:cNvPr id="7" name="HVM-explanation">
            <a:hlinkClick r:id="" action="ppaction://media"/>
            <a:extLst>
              <a:ext uri="{FF2B5EF4-FFF2-40B4-BE49-F238E27FC236}">
                <a16:creationId xmlns:a16="http://schemas.microsoft.com/office/drawing/2014/main" id="{D78C28BD-1076-4B04-A6D2-C94DE1F03BC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307001" y="2841609"/>
            <a:ext cx="5646873" cy="317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786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3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21A9B4A6-91FA-414B-BF4F-3A14641BEA28}"/>
              </a:ext>
            </a:extLst>
          </p:cNvPr>
          <p:cNvSpPr txBox="1"/>
          <p:nvPr/>
        </p:nvSpPr>
        <p:spPr>
          <a:xfrm>
            <a:off x="3230864" y="5722022"/>
            <a:ext cx="57302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247015" lvl="0" indent="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T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hank </a:t>
            </a:r>
            <a:r>
              <a:rPr lang="en-US" altLang="zh-CN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you</a:t>
            </a:r>
            <a:r>
              <a:rPr lang="zh-CN" alt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for</a:t>
            </a:r>
            <a:r>
              <a:rPr lang="zh-CN" alt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your</a:t>
            </a:r>
            <a:r>
              <a:rPr lang="zh-CN" alt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listening!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1D6962D-00AC-71DF-63D9-AC127C99F44B}"/>
              </a:ext>
            </a:extLst>
          </p:cNvPr>
          <p:cNvSpPr txBox="1"/>
          <p:nvPr/>
        </p:nvSpPr>
        <p:spPr>
          <a:xfrm>
            <a:off x="4286250" y="6368353"/>
            <a:ext cx="3619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247015" lvl="0" indent="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t>Bocheng Lin 2024.6.5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C8059F9-DAC0-9878-EE8B-2DF098FEF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49309" cy="600075"/>
          </a:xfrm>
          <a:prstGeom prst="rect">
            <a:avLst/>
          </a:prstGeom>
        </p:spPr>
      </p:pic>
      <p:sp>
        <p:nvSpPr>
          <p:cNvPr id="3" name="object 18">
            <a:extLst>
              <a:ext uri="{FF2B5EF4-FFF2-40B4-BE49-F238E27FC236}">
                <a16:creationId xmlns:a16="http://schemas.microsoft.com/office/drawing/2014/main" id="{B70F60F6-7D44-15C5-8DAE-B78E80E919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5580" y="2683923"/>
            <a:ext cx="10840837" cy="1490152"/>
          </a:xfrm>
          <a:prstGeom prst="rect">
            <a:avLst/>
          </a:prstGeom>
          <a:effectLst>
            <a:innerShdw blurRad="127000">
              <a:prstClr val="black"/>
            </a:innerShdw>
          </a:effectLst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9600" b="1" spc="-5" dirty="0">
                <a:gradFill flip="none" rotWithShape="1">
                  <a:gsLst>
                    <a:gs pos="0">
                      <a:srgbClr val="00B050">
                        <a:lumMod val="75000"/>
                        <a:lumOff val="25000"/>
                      </a:srgbClr>
                    </a:gs>
                    <a:gs pos="33000">
                      <a:srgbClr val="00B0F0">
                        <a:lumMod val="77000"/>
                        <a:lumOff val="23000"/>
                      </a:srgbClr>
                    </a:gs>
                    <a:gs pos="100000">
                      <a:srgbClr val="7030A0">
                        <a:lumMod val="82000"/>
                        <a:lumOff val="18000"/>
                      </a:srgbClr>
                    </a:gs>
                    <a:gs pos="81000">
                      <a:srgbClr val="7030A0">
                        <a:lumMod val="56000"/>
                        <a:lumOff val="44000"/>
                      </a:srgb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A</a:t>
            </a:r>
            <a:r>
              <a:rPr lang="en-US" altLang="zh-CN" sz="9600" b="1" spc="-5" dirty="0">
                <a:gradFill flip="none" rotWithShape="1">
                  <a:gsLst>
                    <a:gs pos="0">
                      <a:srgbClr val="00B050">
                        <a:lumMod val="75000"/>
                        <a:lumOff val="25000"/>
                      </a:srgbClr>
                    </a:gs>
                    <a:gs pos="33000">
                      <a:srgbClr val="00B0F0">
                        <a:lumMod val="77000"/>
                        <a:lumOff val="23000"/>
                      </a:srgbClr>
                    </a:gs>
                    <a:gs pos="100000">
                      <a:srgbClr val="7030A0">
                        <a:lumMod val="82000"/>
                        <a:lumOff val="18000"/>
                      </a:srgbClr>
                    </a:gs>
                    <a:gs pos="81000">
                      <a:srgbClr val="7030A0">
                        <a:lumMod val="56000"/>
                        <a:lumOff val="44000"/>
                      </a:srgb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innerShdw blurRad="25400" dist="12700">
                    <a:prstClr val="black"/>
                  </a:inn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+mn-lt"/>
              </a:rPr>
              <a:t>ny Questions?</a:t>
            </a:r>
            <a:endParaRPr sz="9600" b="1" spc="-5" dirty="0">
              <a:gradFill flip="none" rotWithShape="1">
                <a:gsLst>
                  <a:gs pos="0">
                    <a:srgbClr val="00B050">
                      <a:lumMod val="75000"/>
                      <a:lumOff val="25000"/>
                    </a:srgbClr>
                  </a:gs>
                  <a:gs pos="33000">
                    <a:srgbClr val="00B0F0">
                      <a:lumMod val="77000"/>
                      <a:lumOff val="23000"/>
                    </a:srgbClr>
                  </a:gs>
                  <a:gs pos="100000">
                    <a:srgbClr val="7030A0">
                      <a:lumMod val="82000"/>
                      <a:lumOff val="18000"/>
                    </a:srgbClr>
                  </a:gs>
                  <a:gs pos="81000">
                    <a:srgbClr val="7030A0">
                      <a:lumMod val="56000"/>
                      <a:lumOff val="44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effectLst>
                <a:innerShdw blurRad="25400" dist="12700">
                  <a:prstClr val="black"/>
                </a:inn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62381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a207896a-0934-4c20-aeb4-5ae3da98fa66&quot;,&quot;Name&quot;:null,&quot;Kind&quot;:1,&quot;OldGuidesSetting&quot;:{&quot;HeaderHeight&quot;:0.0,&quot;FooterHeight&quot;:0.0,&quot;SideMargin&quot;:0.0,&quot;TopMargin&quot;:0.0,&quot;BottomMargin&quot;:0.0,&quot;IntervalMargin&quot;:0.0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6450</TotalTime>
  <Words>1268</Words>
  <Application>Microsoft Office PowerPoint</Application>
  <PresentationFormat>宽屏</PresentationFormat>
  <Paragraphs>255</Paragraphs>
  <Slides>37</Slides>
  <Notes>37</Notes>
  <HiddenSlides>0</HiddenSlides>
  <MMClips>1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2" baseType="lpstr">
      <vt:lpstr>Arial</vt:lpstr>
      <vt:lpstr>Calibri</vt:lpstr>
      <vt:lpstr>等线</vt:lpstr>
      <vt:lpstr>等线 Light</vt:lpstr>
      <vt:lpstr>Office 主题​​</vt:lpstr>
      <vt:lpstr>Accelerate Python for a Genetic Programming Project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How to accelerate your python Genetic Programming Codes?</vt:lpstr>
      <vt:lpstr>for individual in population:        simulation(individual);        offspring; end for</vt:lpstr>
      <vt:lpstr>for individual in population:        simulation(individual);        offspring; end for</vt:lpstr>
      <vt:lpstr>Parallel</vt:lpstr>
      <vt:lpstr>Parallel Simulation/Evaluation</vt:lpstr>
      <vt:lpstr># regist executor  =  concurrent.futures.ProcessPoolExecutor ( max_workers = cores ) toolbox.register ( "multiprocessing",  executor.map )   # parallel evaluation invalid_ind  =  [ ind  for  ind  in  population ] fitnesses  =  toolbox.multiprocessing ( toolbox.evaluate, invalid_ind ) for  ind, fit  in  zip ( invalid_ind,  fitnesses ) :        ind.fitness.values  =  ( fit, )</vt:lpstr>
      <vt:lpstr>PowerPoint 演示文稿</vt:lpstr>
      <vt:lpstr>PowerPoint 演示文稿</vt:lpstr>
      <vt:lpstr>PowerPoint 演示文稿</vt:lpstr>
      <vt:lpstr>Go into Simulation</vt:lpstr>
      <vt:lpstr>Loops to Matrix</vt:lpstr>
      <vt:lpstr>PowerPoint 演示文稿</vt:lpstr>
      <vt:lpstr>for individual in population:        simulation(individual);        offspring; end for</vt:lpstr>
      <vt:lpstr>for individual in population:        #ACO simulation        for ant in all_ants:               while unvisited_cities is not empty:                         for cities in unvisted_cities:                               calculate_priority by individual;                         end for;                         choose next_city;                end while;        end for;        offspring; end for</vt:lpstr>
      <vt:lpstr>for individual in population:        #ACO simulation        for ant in all_ants:               while unvisited_cities is not empty:                         for cities in unvisted_cities:                               calculate_priority by individual;                         end for;                         choose next_city;                end while;        end for;        offspring; end for</vt:lpstr>
      <vt:lpstr>       for ant in all_ants:               while unvisited_cities is not empty:                         for cities in unvisted_cities:                               calculate_priority by individual;                         end for;                choose next_city;                end while;        end for;</vt:lpstr>
      <vt:lpstr>Parallel Simulation/Evaluation</vt:lpstr>
      <vt:lpstr>PowerPoint 演示文稿</vt:lpstr>
      <vt:lpstr>       for ant in all_ants:               while unvisited_cities is not empty:                         for cities in unvisted_cities:                               calculate_priority by individual;                               choose next_city;                         end for;                end while;        end for;</vt:lpstr>
      <vt:lpstr>       for ant in all_ants:               while unvisited_cities is not empty:                         for cities in unvisted_cities:                               calculate_priority by individual;                               choose next_city;                         end for;                end while;        end for;</vt:lpstr>
      <vt:lpstr>for individual in population:        #ACO simulation        for ant in all_ants:               while unvisited_cities is not empty:                         for cities in unvisted_cities:                               calculate_priority by individual;                               choose next_city;                         end for;                end while;        end for;        offspring; end for</vt:lpstr>
      <vt:lpstr>for individual in population:        #ACO simulation        for ant in all_ants:               while unvisited_cities is not empty:                         for cities in unvisted_cities:                               calculate_priority by individual;                               choose next_city;                         end for;                end while;        end for;        offspring; end for</vt:lpstr>
      <vt:lpstr>for individual in population:        #ACO simulation        for ant in all_ants:               while unvisited_cities is not empty:                         for cities in unvisted_cities:                               calculate_priority by individual;                               choose next_city;                         end for;                end while;        end for;        offspring; end for</vt:lpstr>
      <vt:lpstr>Parallel inside Simulation/Evaluation</vt:lpstr>
      <vt:lpstr>PowerPoint 演示文稿</vt:lpstr>
      <vt:lpstr>PowerPoint 演示文稿</vt:lpstr>
      <vt:lpstr>Save Over 80% of  Total Execution Time</vt:lpstr>
      <vt:lpstr>Interesting Blogs and GitHub Projects</vt:lpstr>
      <vt:lpstr>Interesting Blogs and GitHub Projects</vt:lpstr>
      <vt:lpstr>Interesting Blogs and GitHub Projects</vt:lpstr>
      <vt:lpstr>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渤程 林</dc:creator>
  <cp:lastModifiedBy>林 渤程</cp:lastModifiedBy>
  <cp:revision>83</cp:revision>
  <dcterms:created xsi:type="dcterms:W3CDTF">2024-01-23T02:45:41Z</dcterms:created>
  <dcterms:modified xsi:type="dcterms:W3CDTF">2024-06-04T06:40:10Z</dcterms:modified>
</cp:coreProperties>
</file>